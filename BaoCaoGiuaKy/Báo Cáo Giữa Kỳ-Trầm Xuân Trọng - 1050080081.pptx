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Times New Roman Bold"/>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1" d="100"/>
          <a:sy n="71" d="100"/>
        </p:scale>
        <p:origin x="5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038600" y="1095300"/>
            <a:ext cx="9752947" cy="1211229"/>
          </a:xfrm>
          <a:prstGeom prst="rect">
            <a:avLst/>
          </a:prstGeom>
        </p:spPr>
        <p:txBody>
          <a:bodyPr wrap="square" lIns="0" tIns="0" rIns="0" bIns="0" rtlCol="0" anchor="t">
            <a:spAutoFit/>
          </a:bodyPr>
          <a:lstStyle/>
          <a:p>
            <a:pPr algn="ctr">
              <a:lnSpc>
                <a:spcPts val="10273"/>
              </a:lnSpc>
              <a:spcBef>
                <a:spcPct val="0"/>
              </a:spcBef>
            </a:pPr>
            <a:r>
              <a:rPr lang="en-US" sz="7338" b="1" dirty="0">
                <a:solidFill>
                  <a:srgbClr val="000000"/>
                </a:solidFill>
                <a:latin typeface="Times New Roman Bold"/>
                <a:ea typeface="Times New Roman Bold"/>
                <a:cs typeface="Times New Roman Bold"/>
                <a:sym typeface="Times New Roman Bold"/>
              </a:rPr>
              <a:t>BÁO CÁO GIỮA KỲ</a:t>
            </a:r>
          </a:p>
        </p:txBody>
      </p:sp>
      <p:sp>
        <p:nvSpPr>
          <p:cNvPr id="5" name="TextBox 5"/>
          <p:cNvSpPr txBox="1"/>
          <p:nvPr/>
        </p:nvSpPr>
        <p:spPr>
          <a:xfrm>
            <a:off x="6313251" y="7166607"/>
            <a:ext cx="6043315" cy="757555"/>
          </a:xfrm>
          <a:prstGeom prst="rect">
            <a:avLst/>
          </a:prstGeom>
        </p:spPr>
        <p:txBody>
          <a:bodyPr lIns="0" tIns="0" rIns="0" bIns="0" rtlCol="0" anchor="t">
            <a:spAutoFit/>
          </a:bodyPr>
          <a:lstStyle/>
          <a:p>
            <a:pPr algn="ctr">
              <a:lnSpc>
                <a:spcPts val="6020"/>
              </a:lnSpc>
              <a:spcBef>
                <a:spcPct val="0"/>
              </a:spcBef>
            </a:pPr>
            <a:r>
              <a:rPr lang="en-US" sz="4300" b="1">
                <a:solidFill>
                  <a:srgbClr val="000000"/>
                </a:solidFill>
                <a:latin typeface="Times New Roman Bold"/>
                <a:ea typeface="Times New Roman Bold"/>
                <a:cs typeface="Times New Roman Bold"/>
                <a:sym typeface="Times New Roman Bold"/>
              </a:rPr>
              <a:t>SVTH: Trầm Xuân Trọng</a:t>
            </a:r>
          </a:p>
        </p:txBody>
      </p:sp>
      <p:sp>
        <p:nvSpPr>
          <p:cNvPr id="6" name="TextBox 6"/>
          <p:cNvSpPr txBox="1"/>
          <p:nvPr/>
        </p:nvSpPr>
        <p:spPr>
          <a:xfrm>
            <a:off x="1219200" y="3884646"/>
            <a:ext cx="16328420" cy="2217420"/>
          </a:xfrm>
          <a:prstGeom prst="rect">
            <a:avLst/>
          </a:prstGeom>
        </p:spPr>
        <p:txBody>
          <a:bodyPr lIns="0" tIns="0" rIns="0" bIns="0" rtlCol="0" anchor="t">
            <a:spAutoFit/>
          </a:bodyPr>
          <a:lstStyle/>
          <a:p>
            <a:pPr algn="ctr">
              <a:lnSpc>
                <a:spcPts val="5880"/>
              </a:lnSpc>
            </a:pPr>
            <a:r>
              <a:rPr lang="en-US" sz="4200">
                <a:solidFill>
                  <a:srgbClr val="000000"/>
                </a:solidFill>
                <a:latin typeface="Times New Roman"/>
                <a:ea typeface="Times New Roman"/>
                <a:cs typeface="Times New Roman"/>
                <a:sym typeface="Times New Roman"/>
              </a:rPr>
              <a:t>ĐỀ TÀI: </a:t>
            </a:r>
          </a:p>
          <a:p>
            <a:pPr algn="ctr">
              <a:lnSpc>
                <a:spcPts val="5880"/>
              </a:lnSpc>
              <a:spcBef>
                <a:spcPct val="0"/>
              </a:spcBef>
            </a:pPr>
            <a:r>
              <a:rPr lang="en-US" sz="4200">
                <a:solidFill>
                  <a:srgbClr val="000000"/>
                </a:solidFill>
                <a:latin typeface="Times New Roman"/>
                <a:ea typeface="Times New Roman"/>
                <a:cs typeface="Times New Roman"/>
                <a:sym typeface="Times New Roman"/>
              </a:rPr>
              <a:t>KIỂM THỬ AUTHORIZATION (RBAC/ABAC): TRUY CẬP TRÁI PHÉP GIỮA CÁC VAI TRÒ. </a:t>
            </a:r>
          </a:p>
        </p:txBody>
      </p:sp>
      <p:sp>
        <p:nvSpPr>
          <p:cNvPr id="7" name="TextBox 7"/>
          <p:cNvSpPr txBox="1"/>
          <p:nvPr/>
        </p:nvSpPr>
        <p:spPr>
          <a:xfrm>
            <a:off x="5076334" y="2473914"/>
            <a:ext cx="7378005" cy="731520"/>
          </a:xfrm>
          <a:prstGeom prst="rect">
            <a:avLst/>
          </a:prstGeom>
        </p:spPr>
        <p:txBody>
          <a:bodyPr lIns="0" tIns="0" rIns="0" bIns="0" rtlCol="0" anchor="t">
            <a:spAutoFit/>
          </a:bodyPr>
          <a:lstStyle/>
          <a:p>
            <a:pPr algn="ctr">
              <a:lnSpc>
                <a:spcPts val="5880"/>
              </a:lnSpc>
              <a:spcBef>
                <a:spcPct val="0"/>
              </a:spcBef>
            </a:pPr>
            <a:r>
              <a:rPr lang="en-US" sz="4200" b="1" dirty="0">
                <a:solidFill>
                  <a:srgbClr val="000000"/>
                </a:solidFill>
                <a:latin typeface="Times New Roman Bold"/>
                <a:ea typeface="Times New Roman Bold"/>
                <a:cs typeface="Times New Roman Bold"/>
                <a:sym typeface="Times New Roman Bold"/>
              </a:rPr>
              <a:t>MÔN KIỂM THỬ PHẦN MỀM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933450"/>
            <a:ext cx="6591300" cy="693716"/>
          </a:xfrm>
          <a:prstGeom prst="rect">
            <a:avLst/>
          </a:prstGeom>
        </p:spPr>
        <p:txBody>
          <a:bodyPr wrap="square" lIns="0" tIns="0" rIns="0" bIns="0" rtlCol="0" anchor="t">
            <a:spAutoFit/>
          </a:bodyPr>
          <a:lstStyle/>
          <a:p>
            <a:pPr algn="ctr">
              <a:lnSpc>
                <a:spcPts val="5880"/>
              </a:lnSpc>
              <a:spcBef>
                <a:spcPct val="0"/>
              </a:spcBef>
            </a:pPr>
            <a:r>
              <a:rPr lang="en-US" sz="4200" b="1" dirty="0">
                <a:solidFill>
                  <a:srgbClr val="000000"/>
                </a:solidFill>
                <a:latin typeface="Times New Roman Bold"/>
                <a:ea typeface="Times New Roman Bold"/>
                <a:cs typeface="Times New Roman Bold"/>
                <a:sym typeface="Times New Roman Bold"/>
              </a:rPr>
              <a:t>Phương Pháp </a:t>
            </a:r>
            <a:r>
              <a:rPr lang="en-US" sz="4200" b="1" dirty="0" err="1">
                <a:solidFill>
                  <a:srgbClr val="000000"/>
                </a:solidFill>
                <a:latin typeface="Times New Roman Bold"/>
                <a:ea typeface="Times New Roman Bold"/>
                <a:cs typeface="Times New Roman Bold"/>
                <a:sym typeface="Times New Roman Bold"/>
              </a:rPr>
              <a:t>Kiểm</a:t>
            </a:r>
            <a:r>
              <a:rPr lang="en-US" sz="4200" b="1" dirty="0">
                <a:solidFill>
                  <a:srgbClr val="000000"/>
                </a:solidFill>
                <a:latin typeface="Times New Roman Bold"/>
                <a:ea typeface="Times New Roman Bold"/>
                <a:cs typeface="Times New Roman Bold"/>
                <a:sym typeface="Times New Roman Bold"/>
              </a:rPr>
              <a:t> </a:t>
            </a:r>
            <a:r>
              <a:rPr lang="en-US" sz="4200" b="1" dirty="0" err="1">
                <a:solidFill>
                  <a:srgbClr val="000000"/>
                </a:solidFill>
                <a:latin typeface="Times New Roman Bold"/>
                <a:ea typeface="Times New Roman Bold"/>
                <a:cs typeface="Times New Roman Bold"/>
                <a:sym typeface="Times New Roman Bold"/>
              </a:rPr>
              <a:t>Thử</a:t>
            </a:r>
            <a:endParaRPr lang="en-US" sz="4200" b="1" dirty="0">
              <a:solidFill>
                <a:srgbClr val="000000"/>
              </a:solidFill>
              <a:latin typeface="Times New Roman Bold"/>
              <a:ea typeface="Times New Roman Bold"/>
              <a:cs typeface="Times New Roman Bold"/>
              <a:sym typeface="Times New Roman Bold"/>
            </a:endParaRPr>
          </a:p>
        </p:txBody>
      </p:sp>
      <p:sp>
        <p:nvSpPr>
          <p:cNvPr id="5" name="TextBox 5"/>
          <p:cNvSpPr txBox="1"/>
          <p:nvPr/>
        </p:nvSpPr>
        <p:spPr>
          <a:xfrm>
            <a:off x="631105" y="2088998"/>
            <a:ext cx="15432249" cy="2252345"/>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Black-box Testing (Kiểm thử Hộp đen): Đóng vai trò là người dùng hoặc Hacker, sử dụng công cụ Postman để tương tác độc lập với các API Endpoints. Khảo sát dữ liệu phản hồi (Response) từ Server.</a:t>
            </a:r>
          </a:p>
          <a:p>
            <a:pPr algn="ctr">
              <a:lnSpc>
                <a:spcPts val="4480"/>
              </a:lnSpc>
              <a:spcBef>
                <a:spcPct val="0"/>
              </a:spcBef>
            </a:pPr>
            <a:endParaRPr lang="en-US" sz="3200">
              <a:solidFill>
                <a:srgbClr val="000000"/>
              </a:solidFill>
              <a:latin typeface="Times New Roman"/>
              <a:ea typeface="Times New Roman"/>
              <a:cs typeface="Times New Roman"/>
              <a:sym typeface="Times New Roman"/>
            </a:endParaRPr>
          </a:p>
        </p:txBody>
      </p:sp>
      <p:sp>
        <p:nvSpPr>
          <p:cNvPr id="6" name="TextBox 6"/>
          <p:cNvSpPr txBox="1"/>
          <p:nvPr/>
        </p:nvSpPr>
        <p:spPr>
          <a:xfrm>
            <a:off x="631105" y="4130455"/>
            <a:ext cx="15432249" cy="2252345"/>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White-box Testing (Kiểm thử Hộp trắng): Can thiệp sâu vào cấu trúc mã nguồn Node.js. Viết kịch bản tự động bằng thư viện Jest nhằm soi chiếu logic Code và Middleware bảo vệ.</a:t>
            </a:r>
          </a:p>
          <a:p>
            <a:pPr algn="l">
              <a:lnSpc>
                <a:spcPts val="4480"/>
              </a:lnSpc>
              <a:spcBef>
                <a:spcPct val="0"/>
              </a:spcBef>
            </a:pPr>
            <a:endParaRPr lang="en-US" sz="3200">
              <a:solidFill>
                <a:srgbClr val="000000"/>
              </a:solidFill>
              <a:latin typeface="Times New Roman"/>
              <a:ea typeface="Times New Roman"/>
              <a:cs typeface="Times New Roman"/>
              <a:sym typeface="Times New Roman"/>
            </a:endParaRPr>
          </a:p>
        </p:txBody>
      </p:sp>
      <p:sp>
        <p:nvSpPr>
          <p:cNvPr id="7" name="TextBox 7"/>
          <p:cNvSpPr txBox="1"/>
          <p:nvPr/>
        </p:nvSpPr>
        <p:spPr>
          <a:xfrm>
            <a:off x="631105" y="6175404"/>
            <a:ext cx="15432249" cy="1690369"/>
          </a:xfrm>
          <a:prstGeom prst="rect">
            <a:avLst/>
          </a:prstGeom>
        </p:spPr>
        <p:txBody>
          <a:bodyPr lIns="0" tIns="0" rIns="0" bIns="0" rtlCol="0" anchor="t">
            <a:spAutoFit/>
          </a:bodyPr>
          <a:lstStyle/>
          <a:p>
            <a:pPr marL="690885" lvl="1" indent="-345443" algn="l">
              <a:lnSpc>
                <a:spcPts val="4480"/>
              </a:lnSpc>
              <a:spcBef>
                <a:spcPct val="0"/>
              </a:spcBef>
              <a:buFont typeface="Arial"/>
              <a:buChar char="•"/>
            </a:pPr>
            <a:r>
              <a:rPr lang="en-US" sz="3200">
                <a:solidFill>
                  <a:srgbClr val="000000"/>
                </a:solidFill>
                <a:latin typeface="Times New Roman"/>
                <a:ea typeface="Times New Roman"/>
                <a:cs typeface="Times New Roman"/>
                <a:sym typeface="Times New Roman"/>
              </a:rPr>
              <a:t>Mục tiêu: Xác minh tính toàn vẹn của hệ thống từ lớp vỏ giao tiếp (API) đến tận lõi xử lý Logic (Source Code).</a:t>
            </a:r>
          </a:p>
          <a:p>
            <a:pPr algn="l">
              <a:lnSpc>
                <a:spcPts val="4480"/>
              </a:lnSpc>
              <a:spcBef>
                <a:spcPct val="0"/>
              </a:spcBef>
            </a:pPr>
            <a:endParaRPr lang="en-US" sz="32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48462" y="2685347"/>
            <a:ext cx="5137192" cy="5610521"/>
            <a:chOff x="0" y="0"/>
            <a:chExt cx="1353005" cy="1477668"/>
          </a:xfrm>
        </p:grpSpPr>
        <p:sp>
          <p:nvSpPr>
            <p:cNvPr id="5" name="Freeform 5"/>
            <p:cNvSpPr/>
            <p:nvPr/>
          </p:nvSpPr>
          <p:spPr>
            <a:xfrm>
              <a:off x="0" y="0"/>
              <a:ext cx="1353005" cy="1477668"/>
            </a:xfrm>
            <a:custGeom>
              <a:avLst/>
              <a:gdLst/>
              <a:ahLst/>
              <a:cxnLst/>
              <a:rect l="l" t="t" r="r" b="b"/>
              <a:pathLst>
                <a:path w="1353005" h="1477668">
                  <a:moveTo>
                    <a:pt x="76859" y="0"/>
                  </a:moveTo>
                  <a:lnTo>
                    <a:pt x="1276147" y="0"/>
                  </a:lnTo>
                  <a:cubicBezTo>
                    <a:pt x="1318595" y="0"/>
                    <a:pt x="1353005" y="34411"/>
                    <a:pt x="1353005" y="76859"/>
                  </a:cubicBezTo>
                  <a:lnTo>
                    <a:pt x="1353005" y="1400809"/>
                  </a:lnTo>
                  <a:cubicBezTo>
                    <a:pt x="1353005" y="1421194"/>
                    <a:pt x="1344908" y="1440743"/>
                    <a:pt x="1330494" y="1455157"/>
                  </a:cubicBezTo>
                  <a:cubicBezTo>
                    <a:pt x="1316080" y="1469570"/>
                    <a:pt x="1296531" y="1477668"/>
                    <a:pt x="1276147" y="1477668"/>
                  </a:cubicBezTo>
                  <a:lnTo>
                    <a:pt x="76859" y="1477668"/>
                  </a:lnTo>
                  <a:cubicBezTo>
                    <a:pt x="56475" y="1477668"/>
                    <a:pt x="36925" y="1469570"/>
                    <a:pt x="22511" y="1455157"/>
                  </a:cubicBezTo>
                  <a:cubicBezTo>
                    <a:pt x="8098" y="1440743"/>
                    <a:pt x="0" y="1421194"/>
                    <a:pt x="0" y="1400809"/>
                  </a:cubicBezTo>
                  <a:lnTo>
                    <a:pt x="0" y="76859"/>
                  </a:lnTo>
                  <a:cubicBezTo>
                    <a:pt x="0" y="56475"/>
                    <a:pt x="8098" y="36925"/>
                    <a:pt x="22511" y="22511"/>
                  </a:cubicBezTo>
                  <a:cubicBezTo>
                    <a:pt x="36925" y="8098"/>
                    <a:pt x="56475" y="0"/>
                    <a:pt x="76859" y="0"/>
                  </a:cubicBezTo>
                  <a:close/>
                </a:path>
              </a:pathLst>
            </a:custGeom>
            <a:solidFill>
              <a:srgbClr val="C1D8ED">
                <a:alpha val="36863"/>
              </a:srgbClr>
            </a:solidFill>
          </p:spPr>
        </p:sp>
        <p:sp>
          <p:nvSpPr>
            <p:cNvPr id="6" name="TextBox 6"/>
            <p:cNvSpPr txBox="1"/>
            <p:nvPr/>
          </p:nvSpPr>
          <p:spPr>
            <a:xfrm>
              <a:off x="0" y="-38100"/>
              <a:ext cx="1353005" cy="1515768"/>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028700" y="933450"/>
            <a:ext cx="4503986" cy="731520"/>
          </a:xfrm>
          <a:prstGeom prst="rect">
            <a:avLst/>
          </a:prstGeom>
        </p:spPr>
        <p:txBody>
          <a:bodyPr lIns="0" tIns="0" rIns="0" bIns="0" rtlCol="0" anchor="t">
            <a:spAutoFit/>
          </a:bodyPr>
          <a:lstStyle/>
          <a:p>
            <a:pPr algn="ctr">
              <a:lnSpc>
                <a:spcPts val="5880"/>
              </a:lnSpc>
              <a:spcBef>
                <a:spcPct val="0"/>
              </a:spcBef>
            </a:pPr>
            <a:r>
              <a:rPr lang="en-US" sz="4200" b="1">
                <a:solidFill>
                  <a:srgbClr val="000000"/>
                </a:solidFill>
                <a:latin typeface="Times New Roman Bold"/>
                <a:ea typeface="Times New Roman Bold"/>
                <a:cs typeface="Times New Roman Bold"/>
                <a:sym typeface="Times New Roman Bold"/>
              </a:rPr>
              <a:t>Kỹ Thuật Kiểm thử</a:t>
            </a:r>
          </a:p>
        </p:txBody>
      </p:sp>
      <p:grpSp>
        <p:nvGrpSpPr>
          <p:cNvPr id="8" name="Group 8"/>
          <p:cNvGrpSpPr/>
          <p:nvPr/>
        </p:nvGrpSpPr>
        <p:grpSpPr>
          <a:xfrm>
            <a:off x="9144000" y="2685347"/>
            <a:ext cx="5137192" cy="5610521"/>
            <a:chOff x="0" y="0"/>
            <a:chExt cx="1353005" cy="1477668"/>
          </a:xfrm>
        </p:grpSpPr>
        <p:sp>
          <p:nvSpPr>
            <p:cNvPr id="9" name="Freeform 9"/>
            <p:cNvSpPr/>
            <p:nvPr/>
          </p:nvSpPr>
          <p:spPr>
            <a:xfrm>
              <a:off x="0" y="0"/>
              <a:ext cx="1353005" cy="1477668"/>
            </a:xfrm>
            <a:custGeom>
              <a:avLst/>
              <a:gdLst/>
              <a:ahLst/>
              <a:cxnLst/>
              <a:rect l="l" t="t" r="r" b="b"/>
              <a:pathLst>
                <a:path w="1353005" h="1477668">
                  <a:moveTo>
                    <a:pt x="76859" y="0"/>
                  </a:moveTo>
                  <a:lnTo>
                    <a:pt x="1276147" y="0"/>
                  </a:lnTo>
                  <a:cubicBezTo>
                    <a:pt x="1318595" y="0"/>
                    <a:pt x="1353005" y="34411"/>
                    <a:pt x="1353005" y="76859"/>
                  </a:cubicBezTo>
                  <a:lnTo>
                    <a:pt x="1353005" y="1400809"/>
                  </a:lnTo>
                  <a:cubicBezTo>
                    <a:pt x="1353005" y="1421194"/>
                    <a:pt x="1344908" y="1440743"/>
                    <a:pt x="1330494" y="1455157"/>
                  </a:cubicBezTo>
                  <a:cubicBezTo>
                    <a:pt x="1316080" y="1469570"/>
                    <a:pt x="1296531" y="1477668"/>
                    <a:pt x="1276147" y="1477668"/>
                  </a:cubicBezTo>
                  <a:lnTo>
                    <a:pt x="76859" y="1477668"/>
                  </a:lnTo>
                  <a:cubicBezTo>
                    <a:pt x="56475" y="1477668"/>
                    <a:pt x="36925" y="1469570"/>
                    <a:pt x="22511" y="1455157"/>
                  </a:cubicBezTo>
                  <a:cubicBezTo>
                    <a:pt x="8098" y="1440743"/>
                    <a:pt x="0" y="1421194"/>
                    <a:pt x="0" y="1400809"/>
                  </a:cubicBezTo>
                  <a:lnTo>
                    <a:pt x="0" y="76859"/>
                  </a:lnTo>
                  <a:cubicBezTo>
                    <a:pt x="0" y="56475"/>
                    <a:pt x="8098" y="36925"/>
                    <a:pt x="22511" y="22511"/>
                  </a:cubicBezTo>
                  <a:cubicBezTo>
                    <a:pt x="36925" y="8098"/>
                    <a:pt x="56475" y="0"/>
                    <a:pt x="76859" y="0"/>
                  </a:cubicBezTo>
                  <a:close/>
                </a:path>
              </a:pathLst>
            </a:custGeom>
            <a:solidFill>
              <a:srgbClr val="C1D8ED">
                <a:alpha val="36863"/>
              </a:srgbClr>
            </a:solidFill>
          </p:spPr>
        </p:sp>
        <p:sp>
          <p:nvSpPr>
            <p:cNvPr id="10" name="TextBox 10"/>
            <p:cNvSpPr txBox="1"/>
            <p:nvPr/>
          </p:nvSpPr>
          <p:spPr>
            <a:xfrm>
              <a:off x="0" y="-38100"/>
              <a:ext cx="1353005" cy="151576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253346" y="3964068"/>
            <a:ext cx="4127424" cy="297688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Times New Roman"/>
                <a:ea typeface="Times New Roman"/>
                <a:cs typeface="Times New Roman"/>
                <a:sym typeface="Times New Roman"/>
              </a:rPr>
              <a:t>Kỹ thuật khai thác các Payload dị dạng, cố tình loại bỏ các trường dữ liệu bắt buộc nhằm kiểm tra rào chắn Validation của hệ thống.</a:t>
            </a:r>
          </a:p>
        </p:txBody>
      </p:sp>
      <p:sp>
        <p:nvSpPr>
          <p:cNvPr id="12" name="TextBox 12"/>
          <p:cNvSpPr txBox="1"/>
          <p:nvPr/>
        </p:nvSpPr>
        <p:spPr>
          <a:xfrm>
            <a:off x="3127125" y="3246938"/>
            <a:ext cx="4379866" cy="549911"/>
          </a:xfrm>
          <a:prstGeom prst="rect">
            <a:avLst/>
          </a:prstGeom>
        </p:spPr>
        <p:txBody>
          <a:bodyPr lIns="0" tIns="0" rIns="0" bIns="0" rtlCol="0" anchor="t">
            <a:spAutoFit/>
          </a:bodyPr>
          <a:lstStyle/>
          <a:p>
            <a:pPr algn="ctr">
              <a:lnSpc>
                <a:spcPts val="4339"/>
              </a:lnSpc>
              <a:spcBef>
                <a:spcPct val="0"/>
              </a:spcBef>
            </a:pPr>
            <a:r>
              <a:rPr lang="en-US" sz="3099" b="1">
                <a:solidFill>
                  <a:srgbClr val="000000"/>
                </a:solidFill>
                <a:latin typeface="Times New Roman Bold"/>
                <a:ea typeface="Times New Roman Bold"/>
                <a:cs typeface="Times New Roman Bold"/>
                <a:sym typeface="Times New Roman Bold"/>
              </a:rPr>
              <a:t>Đoán lỗi (Error Guessing)</a:t>
            </a:r>
          </a:p>
        </p:txBody>
      </p:sp>
      <p:sp>
        <p:nvSpPr>
          <p:cNvPr id="13" name="TextBox 13"/>
          <p:cNvSpPr txBox="1"/>
          <p:nvPr/>
        </p:nvSpPr>
        <p:spPr>
          <a:xfrm>
            <a:off x="9522663" y="3246938"/>
            <a:ext cx="4379866" cy="549911"/>
          </a:xfrm>
          <a:prstGeom prst="rect">
            <a:avLst/>
          </a:prstGeom>
        </p:spPr>
        <p:txBody>
          <a:bodyPr lIns="0" tIns="0" rIns="0" bIns="0" rtlCol="0" anchor="t">
            <a:spAutoFit/>
          </a:bodyPr>
          <a:lstStyle/>
          <a:p>
            <a:pPr algn="ctr">
              <a:lnSpc>
                <a:spcPts val="4339"/>
              </a:lnSpc>
              <a:spcBef>
                <a:spcPct val="0"/>
              </a:spcBef>
            </a:pPr>
            <a:r>
              <a:rPr lang="en-US" sz="3099" b="1">
                <a:solidFill>
                  <a:srgbClr val="000000"/>
                </a:solidFill>
                <a:latin typeface="Times New Roman Bold"/>
                <a:ea typeface="Times New Roman Bold"/>
                <a:cs typeface="Times New Roman Bold"/>
                <a:sym typeface="Times New Roman Bold"/>
              </a:rPr>
              <a:t>Phân vùng (Equivalence)</a:t>
            </a:r>
          </a:p>
        </p:txBody>
      </p:sp>
      <p:sp>
        <p:nvSpPr>
          <p:cNvPr id="14" name="TextBox 14"/>
          <p:cNvSpPr txBox="1"/>
          <p:nvPr/>
        </p:nvSpPr>
        <p:spPr>
          <a:xfrm>
            <a:off x="9648884" y="3964068"/>
            <a:ext cx="4127424" cy="297688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Times New Roman"/>
                <a:ea typeface="Times New Roman"/>
                <a:cs typeface="Times New Roman"/>
                <a:sym typeface="Times New Roman"/>
              </a:rPr>
              <a:t>Phân vùng tương đương tập trung vào việc cách ly ranh giới quyền hạn. Tách biệt chặt chẽ các tác vụ thuộc nhóm Guest, User và Admin.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933450"/>
            <a:ext cx="5200650" cy="731520"/>
          </a:xfrm>
          <a:prstGeom prst="rect">
            <a:avLst/>
          </a:prstGeom>
        </p:spPr>
        <p:txBody>
          <a:bodyPr lIns="0" tIns="0" rIns="0" bIns="0" rtlCol="0" anchor="t">
            <a:spAutoFit/>
          </a:bodyPr>
          <a:lstStyle/>
          <a:p>
            <a:pPr algn="ctr">
              <a:lnSpc>
                <a:spcPts val="5880"/>
              </a:lnSpc>
              <a:spcBef>
                <a:spcPct val="0"/>
              </a:spcBef>
            </a:pPr>
            <a:r>
              <a:rPr lang="en-US" sz="4200" b="1">
                <a:solidFill>
                  <a:srgbClr val="000000"/>
                </a:solidFill>
                <a:latin typeface="Times New Roman Bold"/>
                <a:ea typeface="Times New Roman Bold"/>
                <a:cs typeface="Times New Roman Bold"/>
                <a:sym typeface="Times New Roman Bold"/>
              </a:rPr>
              <a:t>Độ Bao Phủ Kiểm Thử</a:t>
            </a:r>
          </a:p>
        </p:txBody>
      </p:sp>
      <p:grpSp>
        <p:nvGrpSpPr>
          <p:cNvPr id="5" name="Group 5"/>
          <p:cNvGrpSpPr/>
          <p:nvPr/>
        </p:nvGrpSpPr>
        <p:grpSpPr>
          <a:xfrm>
            <a:off x="2748462" y="2685347"/>
            <a:ext cx="5137192" cy="5610521"/>
            <a:chOff x="0" y="0"/>
            <a:chExt cx="1353005" cy="1477668"/>
          </a:xfrm>
        </p:grpSpPr>
        <p:sp>
          <p:nvSpPr>
            <p:cNvPr id="6" name="Freeform 6"/>
            <p:cNvSpPr/>
            <p:nvPr/>
          </p:nvSpPr>
          <p:spPr>
            <a:xfrm>
              <a:off x="0" y="0"/>
              <a:ext cx="1353005" cy="1477668"/>
            </a:xfrm>
            <a:custGeom>
              <a:avLst/>
              <a:gdLst/>
              <a:ahLst/>
              <a:cxnLst/>
              <a:rect l="l" t="t" r="r" b="b"/>
              <a:pathLst>
                <a:path w="1353005" h="1477668">
                  <a:moveTo>
                    <a:pt x="76859" y="0"/>
                  </a:moveTo>
                  <a:lnTo>
                    <a:pt x="1276147" y="0"/>
                  </a:lnTo>
                  <a:cubicBezTo>
                    <a:pt x="1318595" y="0"/>
                    <a:pt x="1353005" y="34411"/>
                    <a:pt x="1353005" y="76859"/>
                  </a:cubicBezTo>
                  <a:lnTo>
                    <a:pt x="1353005" y="1400809"/>
                  </a:lnTo>
                  <a:cubicBezTo>
                    <a:pt x="1353005" y="1421194"/>
                    <a:pt x="1344908" y="1440743"/>
                    <a:pt x="1330494" y="1455157"/>
                  </a:cubicBezTo>
                  <a:cubicBezTo>
                    <a:pt x="1316080" y="1469570"/>
                    <a:pt x="1296531" y="1477668"/>
                    <a:pt x="1276147" y="1477668"/>
                  </a:cubicBezTo>
                  <a:lnTo>
                    <a:pt x="76859" y="1477668"/>
                  </a:lnTo>
                  <a:cubicBezTo>
                    <a:pt x="56475" y="1477668"/>
                    <a:pt x="36925" y="1469570"/>
                    <a:pt x="22511" y="1455157"/>
                  </a:cubicBezTo>
                  <a:cubicBezTo>
                    <a:pt x="8098" y="1440743"/>
                    <a:pt x="0" y="1421194"/>
                    <a:pt x="0" y="1400809"/>
                  </a:cubicBezTo>
                  <a:lnTo>
                    <a:pt x="0" y="76859"/>
                  </a:lnTo>
                  <a:cubicBezTo>
                    <a:pt x="0" y="56475"/>
                    <a:pt x="8098" y="36925"/>
                    <a:pt x="22511" y="22511"/>
                  </a:cubicBezTo>
                  <a:cubicBezTo>
                    <a:pt x="36925" y="8098"/>
                    <a:pt x="56475" y="0"/>
                    <a:pt x="76859" y="0"/>
                  </a:cubicBezTo>
                  <a:close/>
                </a:path>
              </a:pathLst>
            </a:custGeom>
            <a:solidFill>
              <a:srgbClr val="C1D8ED">
                <a:alpha val="36863"/>
              </a:srgbClr>
            </a:solidFill>
          </p:spPr>
        </p:sp>
        <p:sp>
          <p:nvSpPr>
            <p:cNvPr id="7" name="TextBox 7"/>
            <p:cNvSpPr txBox="1"/>
            <p:nvPr/>
          </p:nvSpPr>
          <p:spPr>
            <a:xfrm>
              <a:off x="0" y="-38100"/>
              <a:ext cx="1353005" cy="151576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144000" y="2685347"/>
            <a:ext cx="5137192" cy="5610521"/>
            <a:chOff x="0" y="0"/>
            <a:chExt cx="1353005" cy="1477668"/>
          </a:xfrm>
        </p:grpSpPr>
        <p:sp>
          <p:nvSpPr>
            <p:cNvPr id="9" name="Freeform 9"/>
            <p:cNvSpPr/>
            <p:nvPr/>
          </p:nvSpPr>
          <p:spPr>
            <a:xfrm>
              <a:off x="0" y="0"/>
              <a:ext cx="1353005" cy="1477668"/>
            </a:xfrm>
            <a:custGeom>
              <a:avLst/>
              <a:gdLst/>
              <a:ahLst/>
              <a:cxnLst/>
              <a:rect l="l" t="t" r="r" b="b"/>
              <a:pathLst>
                <a:path w="1353005" h="1477668">
                  <a:moveTo>
                    <a:pt x="76859" y="0"/>
                  </a:moveTo>
                  <a:lnTo>
                    <a:pt x="1276147" y="0"/>
                  </a:lnTo>
                  <a:cubicBezTo>
                    <a:pt x="1318595" y="0"/>
                    <a:pt x="1353005" y="34411"/>
                    <a:pt x="1353005" y="76859"/>
                  </a:cubicBezTo>
                  <a:lnTo>
                    <a:pt x="1353005" y="1400809"/>
                  </a:lnTo>
                  <a:cubicBezTo>
                    <a:pt x="1353005" y="1421194"/>
                    <a:pt x="1344908" y="1440743"/>
                    <a:pt x="1330494" y="1455157"/>
                  </a:cubicBezTo>
                  <a:cubicBezTo>
                    <a:pt x="1316080" y="1469570"/>
                    <a:pt x="1296531" y="1477668"/>
                    <a:pt x="1276147" y="1477668"/>
                  </a:cubicBezTo>
                  <a:lnTo>
                    <a:pt x="76859" y="1477668"/>
                  </a:lnTo>
                  <a:cubicBezTo>
                    <a:pt x="56475" y="1477668"/>
                    <a:pt x="36925" y="1469570"/>
                    <a:pt x="22511" y="1455157"/>
                  </a:cubicBezTo>
                  <a:cubicBezTo>
                    <a:pt x="8098" y="1440743"/>
                    <a:pt x="0" y="1421194"/>
                    <a:pt x="0" y="1400809"/>
                  </a:cubicBezTo>
                  <a:lnTo>
                    <a:pt x="0" y="76859"/>
                  </a:lnTo>
                  <a:cubicBezTo>
                    <a:pt x="0" y="56475"/>
                    <a:pt x="8098" y="36925"/>
                    <a:pt x="22511" y="22511"/>
                  </a:cubicBezTo>
                  <a:cubicBezTo>
                    <a:pt x="36925" y="8098"/>
                    <a:pt x="56475" y="0"/>
                    <a:pt x="76859" y="0"/>
                  </a:cubicBezTo>
                  <a:close/>
                </a:path>
              </a:pathLst>
            </a:custGeom>
            <a:solidFill>
              <a:srgbClr val="C1D8ED">
                <a:alpha val="36863"/>
              </a:srgbClr>
            </a:solidFill>
          </p:spPr>
        </p:sp>
        <p:sp>
          <p:nvSpPr>
            <p:cNvPr id="10" name="TextBox 10"/>
            <p:cNvSpPr txBox="1"/>
            <p:nvPr/>
          </p:nvSpPr>
          <p:spPr>
            <a:xfrm>
              <a:off x="0" y="-38100"/>
              <a:ext cx="1353005" cy="151576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127125" y="4020600"/>
            <a:ext cx="4632308" cy="248158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Times New Roman"/>
                <a:ea typeface="Times New Roman"/>
                <a:cs typeface="Times New Roman"/>
                <a:sym typeface="Times New Roman"/>
              </a:rPr>
              <a:t>Công thức đánh giá mức độ bao phủ toàn diện các điểm cuối giao tiếp của dịch vụ Backend.</a:t>
            </a:r>
          </a:p>
          <a:p>
            <a:pPr algn="l">
              <a:lnSpc>
                <a:spcPts val="3919"/>
              </a:lnSpc>
              <a:spcBef>
                <a:spcPct val="0"/>
              </a:spcBef>
            </a:pPr>
            <a:r>
              <a:rPr lang="en-US" sz="2799">
                <a:solidFill>
                  <a:srgbClr val="000000"/>
                </a:solidFill>
                <a:latin typeface="Times New Roman"/>
                <a:ea typeface="Times New Roman"/>
                <a:cs typeface="Times New Roman"/>
                <a:sym typeface="Times New Roman"/>
              </a:rPr>
              <a:t>C=(APITested/APITotal)×100%</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p:txBody>
      </p:sp>
      <p:sp>
        <p:nvSpPr>
          <p:cNvPr id="12" name="TextBox 12"/>
          <p:cNvSpPr txBox="1"/>
          <p:nvPr/>
        </p:nvSpPr>
        <p:spPr>
          <a:xfrm>
            <a:off x="9522663" y="3246938"/>
            <a:ext cx="4379866" cy="549911"/>
          </a:xfrm>
          <a:prstGeom prst="rect">
            <a:avLst/>
          </a:prstGeom>
        </p:spPr>
        <p:txBody>
          <a:bodyPr lIns="0" tIns="0" rIns="0" bIns="0" rtlCol="0" anchor="t">
            <a:spAutoFit/>
          </a:bodyPr>
          <a:lstStyle/>
          <a:p>
            <a:pPr algn="ctr">
              <a:lnSpc>
                <a:spcPts val="4339"/>
              </a:lnSpc>
              <a:spcBef>
                <a:spcPct val="0"/>
              </a:spcBef>
            </a:pPr>
            <a:r>
              <a:rPr lang="en-US" sz="3099" b="1">
                <a:solidFill>
                  <a:srgbClr val="000000"/>
                </a:solidFill>
                <a:latin typeface="Times New Roman Bold"/>
                <a:ea typeface="Times New Roman Bold"/>
                <a:cs typeface="Times New Roman Bold"/>
                <a:sym typeface="Times New Roman Bold"/>
              </a:rPr>
              <a:t>Phân vùng (Equivalence)</a:t>
            </a:r>
          </a:p>
        </p:txBody>
      </p:sp>
      <p:sp>
        <p:nvSpPr>
          <p:cNvPr id="13" name="TextBox 13"/>
          <p:cNvSpPr txBox="1"/>
          <p:nvPr/>
        </p:nvSpPr>
        <p:spPr>
          <a:xfrm>
            <a:off x="3127125" y="3246938"/>
            <a:ext cx="4379866" cy="549911"/>
          </a:xfrm>
          <a:prstGeom prst="rect">
            <a:avLst/>
          </a:prstGeom>
        </p:spPr>
        <p:txBody>
          <a:bodyPr lIns="0" tIns="0" rIns="0" bIns="0" rtlCol="0" anchor="t">
            <a:spAutoFit/>
          </a:bodyPr>
          <a:lstStyle/>
          <a:p>
            <a:pPr algn="ctr">
              <a:lnSpc>
                <a:spcPts val="4339"/>
              </a:lnSpc>
              <a:spcBef>
                <a:spcPct val="0"/>
              </a:spcBef>
            </a:pPr>
            <a:r>
              <a:rPr lang="en-US" sz="3099" b="1">
                <a:solidFill>
                  <a:srgbClr val="000000"/>
                </a:solidFill>
                <a:latin typeface="Times New Roman Bold"/>
                <a:ea typeface="Times New Roman Bold"/>
                <a:cs typeface="Times New Roman Bold"/>
                <a:sym typeface="Times New Roman Bold"/>
              </a:rPr>
              <a:t>API Endpoint Coverage</a:t>
            </a:r>
          </a:p>
        </p:txBody>
      </p:sp>
      <p:sp>
        <p:nvSpPr>
          <p:cNvPr id="14" name="TextBox 14"/>
          <p:cNvSpPr txBox="1"/>
          <p:nvPr/>
        </p:nvSpPr>
        <p:spPr>
          <a:xfrm>
            <a:off x="9270221" y="3864610"/>
            <a:ext cx="4884750" cy="248158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Times New Roman"/>
                <a:ea typeface="Times New Roman"/>
                <a:cs typeface="Times New Roman"/>
                <a:sym typeface="Times New Roman"/>
              </a:rPr>
              <a:t>Đo lường tính chặt chẽ của ma trận phân quyền, đối chiếu mọi vai trò với tài nguyên hệ thống.</a:t>
            </a:r>
          </a:p>
          <a:p>
            <a:pPr algn="ctr">
              <a:lnSpc>
                <a:spcPts val="3919"/>
              </a:lnSpc>
              <a:spcBef>
                <a:spcPct val="0"/>
              </a:spcBef>
            </a:pPr>
            <a:r>
              <a:rPr lang="en-US" sz="2799">
                <a:solidFill>
                  <a:srgbClr val="000000"/>
                </a:solidFill>
                <a:latin typeface="Times New Roman"/>
                <a:ea typeface="Times New Roman"/>
                <a:cs typeface="Times New Roman"/>
                <a:sym typeface="Times New Roman"/>
              </a:rPr>
              <a:t>C=(PairsTested/PairsTotal)×100%</a:t>
            </a:r>
          </a:p>
          <a:p>
            <a:pPr algn="l">
              <a:lnSpc>
                <a:spcPts val="3919"/>
              </a:lnSpc>
              <a:spcBef>
                <a:spcPct val="0"/>
              </a:spcBef>
            </a:pPr>
            <a:endParaRPr lang="en-US" sz="2799">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580917" y="1028116"/>
            <a:ext cx="4740473" cy="731520"/>
          </a:xfrm>
          <a:prstGeom prst="rect">
            <a:avLst/>
          </a:prstGeom>
        </p:spPr>
        <p:txBody>
          <a:bodyPr lIns="0" tIns="0" rIns="0" bIns="0" rtlCol="0" anchor="t">
            <a:spAutoFit/>
          </a:bodyPr>
          <a:lstStyle/>
          <a:p>
            <a:pPr algn="ctr">
              <a:lnSpc>
                <a:spcPts val="5880"/>
              </a:lnSpc>
              <a:spcBef>
                <a:spcPct val="0"/>
              </a:spcBef>
            </a:pPr>
            <a:r>
              <a:rPr lang="en-US" sz="4200" b="1">
                <a:solidFill>
                  <a:srgbClr val="000000"/>
                </a:solidFill>
                <a:latin typeface="Times New Roman Bold"/>
                <a:ea typeface="Times New Roman Bold"/>
                <a:cs typeface="Times New Roman Bold"/>
                <a:sym typeface="Times New Roman Bold"/>
              </a:rPr>
              <a:t>Kế Hoạch Kiểm Thử</a:t>
            </a:r>
          </a:p>
        </p:txBody>
      </p:sp>
      <p:grpSp>
        <p:nvGrpSpPr>
          <p:cNvPr id="5" name="Group 5"/>
          <p:cNvGrpSpPr/>
          <p:nvPr/>
        </p:nvGrpSpPr>
        <p:grpSpPr>
          <a:xfrm>
            <a:off x="1580917" y="2338240"/>
            <a:ext cx="13751779" cy="7125174"/>
            <a:chOff x="0" y="0"/>
            <a:chExt cx="3621868" cy="1876589"/>
          </a:xfrm>
        </p:grpSpPr>
        <p:sp>
          <p:nvSpPr>
            <p:cNvPr id="6" name="Freeform 6"/>
            <p:cNvSpPr/>
            <p:nvPr/>
          </p:nvSpPr>
          <p:spPr>
            <a:xfrm>
              <a:off x="0" y="0"/>
              <a:ext cx="3621868" cy="1876589"/>
            </a:xfrm>
            <a:custGeom>
              <a:avLst/>
              <a:gdLst/>
              <a:ahLst/>
              <a:cxnLst/>
              <a:rect l="l" t="t" r="r" b="b"/>
              <a:pathLst>
                <a:path w="3621868" h="1876589">
                  <a:moveTo>
                    <a:pt x="28712" y="0"/>
                  </a:moveTo>
                  <a:lnTo>
                    <a:pt x="3593156" y="0"/>
                  </a:lnTo>
                  <a:cubicBezTo>
                    <a:pt x="3609013" y="0"/>
                    <a:pt x="3621868" y="12855"/>
                    <a:pt x="3621868" y="28712"/>
                  </a:cubicBezTo>
                  <a:lnTo>
                    <a:pt x="3621868" y="1847877"/>
                  </a:lnTo>
                  <a:cubicBezTo>
                    <a:pt x="3621868" y="1863734"/>
                    <a:pt x="3609013" y="1876589"/>
                    <a:pt x="3593156" y="1876589"/>
                  </a:cubicBezTo>
                  <a:lnTo>
                    <a:pt x="28712" y="1876589"/>
                  </a:lnTo>
                  <a:cubicBezTo>
                    <a:pt x="12855" y="1876589"/>
                    <a:pt x="0" y="1863734"/>
                    <a:pt x="0" y="1847877"/>
                  </a:cubicBezTo>
                  <a:lnTo>
                    <a:pt x="0" y="28712"/>
                  </a:lnTo>
                  <a:cubicBezTo>
                    <a:pt x="0" y="12855"/>
                    <a:pt x="12855" y="0"/>
                    <a:pt x="28712" y="0"/>
                  </a:cubicBezTo>
                  <a:close/>
                </a:path>
              </a:pathLst>
            </a:custGeom>
            <a:solidFill>
              <a:srgbClr val="C1D8ED">
                <a:alpha val="36863"/>
              </a:srgbClr>
            </a:solidFill>
          </p:spPr>
        </p:sp>
        <p:sp>
          <p:nvSpPr>
            <p:cNvPr id="7" name="TextBox 7"/>
            <p:cNvSpPr txBox="1"/>
            <p:nvPr/>
          </p:nvSpPr>
          <p:spPr>
            <a:xfrm>
              <a:off x="0" y="-38100"/>
              <a:ext cx="3621868" cy="1914689"/>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986202" y="2704693"/>
            <a:ext cx="12878052" cy="1690369"/>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Times New Roman"/>
                <a:ea typeface="Times New Roman"/>
                <a:cs typeface="Times New Roman"/>
                <a:sym typeface="Times New Roman"/>
              </a:rPr>
              <a:t>Mô tả kiểm thử: Kiểm thử trang web bán hàng online tự lập trình để bảo đảm rằng các tính năng phân quyền RBAC/ABAC hoạt động như thế nào, khai thác được lỗ hỏng phân quyền không  </a:t>
            </a:r>
          </a:p>
        </p:txBody>
      </p:sp>
      <p:sp>
        <p:nvSpPr>
          <p:cNvPr id="9" name="TextBox 9"/>
          <p:cNvSpPr txBox="1"/>
          <p:nvPr/>
        </p:nvSpPr>
        <p:spPr>
          <a:xfrm>
            <a:off x="1986202" y="4411443"/>
            <a:ext cx="12878052" cy="566419"/>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Times New Roman"/>
                <a:ea typeface="Times New Roman"/>
                <a:cs typeface="Times New Roman"/>
                <a:sym typeface="Times New Roman"/>
              </a:rPr>
              <a:t>Lịch trình dự kiến: từ 1-3 đến 31-3</a:t>
            </a:r>
          </a:p>
        </p:txBody>
      </p:sp>
      <p:sp>
        <p:nvSpPr>
          <p:cNvPr id="10" name="TextBox 10"/>
          <p:cNvSpPr txBox="1"/>
          <p:nvPr/>
        </p:nvSpPr>
        <p:spPr>
          <a:xfrm>
            <a:off x="2017780" y="5057775"/>
            <a:ext cx="12878052" cy="1128394"/>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Times New Roman"/>
                <a:ea typeface="Times New Roman"/>
                <a:cs typeface="Times New Roman"/>
                <a:sym typeface="Times New Roman"/>
              </a:rPr>
              <a:t>Yêu cầu tài nguyên: Máy tính windows 10 trở lên. npm tối thiểu từ phiên bản 11. trở lên</a:t>
            </a:r>
          </a:p>
        </p:txBody>
      </p:sp>
      <p:sp>
        <p:nvSpPr>
          <p:cNvPr id="11" name="TextBox 11"/>
          <p:cNvSpPr txBox="1"/>
          <p:nvPr/>
        </p:nvSpPr>
        <p:spPr>
          <a:xfrm>
            <a:off x="2017780" y="6205219"/>
            <a:ext cx="12878052" cy="566419"/>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Times New Roman"/>
                <a:ea typeface="Times New Roman"/>
                <a:cs typeface="Times New Roman"/>
                <a:sym typeface="Times New Roman"/>
              </a:rPr>
              <a:t>Nhân sự: Trầm Xuân Trọng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175891" y="1736903"/>
            <a:ext cx="13751779" cy="7125174"/>
            <a:chOff x="0" y="0"/>
            <a:chExt cx="3621868" cy="1876589"/>
          </a:xfrm>
        </p:grpSpPr>
        <p:sp>
          <p:nvSpPr>
            <p:cNvPr id="5" name="Freeform 5"/>
            <p:cNvSpPr/>
            <p:nvPr/>
          </p:nvSpPr>
          <p:spPr>
            <a:xfrm>
              <a:off x="0" y="0"/>
              <a:ext cx="3621868" cy="1876589"/>
            </a:xfrm>
            <a:custGeom>
              <a:avLst/>
              <a:gdLst/>
              <a:ahLst/>
              <a:cxnLst/>
              <a:rect l="l" t="t" r="r" b="b"/>
              <a:pathLst>
                <a:path w="3621868" h="1876589">
                  <a:moveTo>
                    <a:pt x="28712" y="0"/>
                  </a:moveTo>
                  <a:lnTo>
                    <a:pt x="3593156" y="0"/>
                  </a:lnTo>
                  <a:cubicBezTo>
                    <a:pt x="3609013" y="0"/>
                    <a:pt x="3621868" y="12855"/>
                    <a:pt x="3621868" y="28712"/>
                  </a:cubicBezTo>
                  <a:lnTo>
                    <a:pt x="3621868" y="1847877"/>
                  </a:lnTo>
                  <a:cubicBezTo>
                    <a:pt x="3621868" y="1863734"/>
                    <a:pt x="3609013" y="1876589"/>
                    <a:pt x="3593156" y="1876589"/>
                  </a:cubicBezTo>
                  <a:lnTo>
                    <a:pt x="28712" y="1876589"/>
                  </a:lnTo>
                  <a:cubicBezTo>
                    <a:pt x="12855" y="1876589"/>
                    <a:pt x="0" y="1863734"/>
                    <a:pt x="0" y="1847877"/>
                  </a:cubicBezTo>
                  <a:lnTo>
                    <a:pt x="0" y="28712"/>
                  </a:lnTo>
                  <a:cubicBezTo>
                    <a:pt x="0" y="12855"/>
                    <a:pt x="12855" y="0"/>
                    <a:pt x="28712" y="0"/>
                  </a:cubicBezTo>
                  <a:close/>
                </a:path>
              </a:pathLst>
            </a:custGeom>
            <a:solidFill>
              <a:srgbClr val="C1D8ED">
                <a:alpha val="36863"/>
              </a:srgbClr>
            </a:solidFill>
          </p:spPr>
        </p:sp>
        <p:sp>
          <p:nvSpPr>
            <p:cNvPr id="6" name="TextBox 6"/>
            <p:cNvSpPr txBox="1"/>
            <p:nvPr/>
          </p:nvSpPr>
          <p:spPr>
            <a:xfrm>
              <a:off x="0" y="-38100"/>
              <a:ext cx="3621868" cy="1914689"/>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1175891" y="942975"/>
            <a:ext cx="4081909" cy="528991"/>
          </a:xfrm>
          <a:prstGeom prst="rect">
            <a:avLst/>
          </a:prstGeom>
        </p:spPr>
        <p:txBody>
          <a:bodyPr wrap="square" lIns="0" tIns="0" rIns="0" bIns="0" rtlCol="0" anchor="t">
            <a:spAutoFit/>
          </a:bodyPr>
          <a:lstStyle/>
          <a:p>
            <a:pPr algn="ctr">
              <a:lnSpc>
                <a:spcPts val="4480"/>
              </a:lnSpc>
              <a:spcBef>
                <a:spcPct val="0"/>
              </a:spcBef>
            </a:pPr>
            <a:r>
              <a:rPr lang="en-US" sz="3200" b="1" dirty="0" err="1">
                <a:solidFill>
                  <a:srgbClr val="000000"/>
                </a:solidFill>
                <a:latin typeface="Times New Roman Bold"/>
                <a:ea typeface="Times New Roman Bold"/>
                <a:cs typeface="Times New Roman Bold"/>
                <a:sym typeface="Times New Roman Bold"/>
              </a:rPr>
              <a:t>Kịch</a:t>
            </a:r>
            <a:r>
              <a:rPr lang="en-US" sz="3200" b="1" dirty="0">
                <a:solidFill>
                  <a:srgbClr val="000000"/>
                </a:solidFill>
                <a:latin typeface="Times New Roman Bold"/>
                <a:ea typeface="Times New Roman Bold"/>
                <a:cs typeface="Times New Roman Bold"/>
                <a:sym typeface="Times New Roman Bold"/>
              </a:rPr>
              <a:t> </a:t>
            </a:r>
            <a:r>
              <a:rPr lang="en-US" sz="3200" b="1" dirty="0" err="1">
                <a:solidFill>
                  <a:srgbClr val="000000"/>
                </a:solidFill>
                <a:latin typeface="Times New Roman Bold"/>
                <a:ea typeface="Times New Roman Bold"/>
                <a:cs typeface="Times New Roman Bold"/>
                <a:sym typeface="Times New Roman Bold"/>
              </a:rPr>
              <a:t>Bản</a:t>
            </a:r>
            <a:r>
              <a:rPr lang="en-US" sz="3200" b="1" dirty="0">
                <a:solidFill>
                  <a:srgbClr val="000000"/>
                </a:solidFill>
                <a:latin typeface="Times New Roman Bold"/>
                <a:ea typeface="Times New Roman Bold"/>
                <a:cs typeface="Times New Roman Bold"/>
                <a:sym typeface="Times New Roman Bold"/>
              </a:rPr>
              <a:t> </a:t>
            </a:r>
            <a:r>
              <a:rPr lang="en-US" sz="3200" b="1" dirty="0" err="1">
                <a:solidFill>
                  <a:srgbClr val="000000"/>
                </a:solidFill>
                <a:latin typeface="Times New Roman Bold"/>
                <a:ea typeface="Times New Roman Bold"/>
                <a:cs typeface="Times New Roman Bold"/>
                <a:sym typeface="Times New Roman Bold"/>
              </a:rPr>
              <a:t>Kiểm</a:t>
            </a:r>
            <a:r>
              <a:rPr lang="en-US" sz="3200" b="1" dirty="0">
                <a:solidFill>
                  <a:srgbClr val="000000"/>
                </a:solidFill>
                <a:latin typeface="Times New Roman Bold"/>
                <a:ea typeface="Times New Roman Bold"/>
                <a:cs typeface="Times New Roman Bold"/>
                <a:sym typeface="Times New Roman Bold"/>
              </a:rPr>
              <a:t> </a:t>
            </a:r>
            <a:r>
              <a:rPr lang="en-US" sz="3200" b="1" dirty="0" err="1">
                <a:solidFill>
                  <a:srgbClr val="000000"/>
                </a:solidFill>
                <a:latin typeface="Times New Roman Bold"/>
                <a:ea typeface="Times New Roman Bold"/>
                <a:cs typeface="Times New Roman Bold"/>
                <a:sym typeface="Times New Roman Bold"/>
              </a:rPr>
              <a:t>Thử</a:t>
            </a:r>
            <a:endParaRPr lang="en-US" sz="3200" b="1" dirty="0">
              <a:solidFill>
                <a:srgbClr val="000000"/>
              </a:solidFill>
              <a:latin typeface="Times New Roman Bold"/>
              <a:ea typeface="Times New Roman Bold"/>
              <a:cs typeface="Times New Roman Bold"/>
              <a:sym typeface="Times New Roman Bold"/>
            </a:endParaRPr>
          </a:p>
        </p:txBody>
      </p:sp>
      <p:sp>
        <p:nvSpPr>
          <p:cNvPr id="8" name="TextBox 8"/>
          <p:cNvSpPr txBox="1"/>
          <p:nvPr/>
        </p:nvSpPr>
        <p:spPr>
          <a:xfrm>
            <a:off x="1512873" y="2010478"/>
            <a:ext cx="12878052" cy="1128394"/>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Times New Roman"/>
                <a:ea typeface="Times New Roman"/>
                <a:cs typeface="Times New Roman"/>
                <a:sym typeface="Times New Roman"/>
              </a:rPr>
              <a:t>Hiện tại chỉ có các kịch bản kiểm thử với automation test với Jest và kết quả cho ra được như sau: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533400" y="863882"/>
            <a:ext cx="5224909" cy="528991"/>
          </a:xfrm>
          <a:prstGeom prst="rect">
            <a:avLst/>
          </a:prstGeom>
        </p:spPr>
        <p:txBody>
          <a:bodyPr wrap="square" lIns="0" tIns="0" rIns="0" bIns="0" rtlCol="0" anchor="t">
            <a:spAutoFit/>
          </a:bodyPr>
          <a:lstStyle/>
          <a:p>
            <a:pPr algn="ctr">
              <a:lnSpc>
                <a:spcPts val="4480"/>
              </a:lnSpc>
              <a:spcBef>
                <a:spcPct val="0"/>
              </a:spcBef>
            </a:pPr>
            <a:r>
              <a:rPr lang="en-US" sz="3200" b="1" dirty="0" err="1">
                <a:solidFill>
                  <a:srgbClr val="000000"/>
                </a:solidFill>
                <a:latin typeface="Times New Roman Bold"/>
                <a:ea typeface="Times New Roman Bold"/>
                <a:cs typeface="Times New Roman Bold"/>
                <a:sym typeface="Times New Roman Bold"/>
              </a:rPr>
              <a:t>Kịch</a:t>
            </a:r>
            <a:r>
              <a:rPr lang="en-US" sz="3200" b="1" dirty="0">
                <a:solidFill>
                  <a:srgbClr val="000000"/>
                </a:solidFill>
                <a:latin typeface="Times New Roman Bold"/>
                <a:ea typeface="Times New Roman Bold"/>
                <a:cs typeface="Times New Roman Bold"/>
                <a:sym typeface="Times New Roman Bold"/>
              </a:rPr>
              <a:t> </a:t>
            </a:r>
            <a:r>
              <a:rPr lang="en-US" sz="3200" b="1" dirty="0" err="1">
                <a:solidFill>
                  <a:srgbClr val="000000"/>
                </a:solidFill>
                <a:latin typeface="Times New Roman Bold"/>
                <a:ea typeface="Times New Roman Bold"/>
                <a:cs typeface="Times New Roman Bold"/>
                <a:sym typeface="Times New Roman Bold"/>
              </a:rPr>
              <a:t>Bản</a:t>
            </a:r>
            <a:r>
              <a:rPr lang="en-US" sz="3200" b="1" dirty="0">
                <a:solidFill>
                  <a:srgbClr val="000000"/>
                </a:solidFill>
                <a:latin typeface="Times New Roman Bold"/>
                <a:ea typeface="Times New Roman Bold"/>
                <a:cs typeface="Times New Roman Bold"/>
                <a:sym typeface="Times New Roman Bold"/>
              </a:rPr>
              <a:t> </a:t>
            </a:r>
            <a:r>
              <a:rPr lang="en-US" sz="3200" b="1" dirty="0" err="1">
                <a:solidFill>
                  <a:srgbClr val="000000"/>
                </a:solidFill>
                <a:latin typeface="Times New Roman Bold"/>
                <a:ea typeface="Times New Roman Bold"/>
                <a:cs typeface="Times New Roman Bold"/>
                <a:sym typeface="Times New Roman Bold"/>
              </a:rPr>
              <a:t>Kiểm</a:t>
            </a:r>
            <a:r>
              <a:rPr lang="en-US" sz="3200" b="1" dirty="0">
                <a:solidFill>
                  <a:srgbClr val="000000"/>
                </a:solidFill>
                <a:latin typeface="Times New Roman Bold"/>
                <a:ea typeface="Times New Roman Bold"/>
                <a:cs typeface="Times New Roman Bold"/>
                <a:sym typeface="Times New Roman Bold"/>
              </a:rPr>
              <a:t> </a:t>
            </a:r>
            <a:r>
              <a:rPr lang="en-US" sz="3200" b="1" dirty="0" err="1">
                <a:solidFill>
                  <a:srgbClr val="000000"/>
                </a:solidFill>
                <a:latin typeface="Times New Roman Bold"/>
                <a:ea typeface="Times New Roman Bold"/>
                <a:cs typeface="Times New Roman Bold"/>
                <a:sym typeface="Times New Roman Bold"/>
              </a:rPr>
              <a:t>Thử</a:t>
            </a:r>
            <a:endParaRPr lang="en-US" sz="3200" b="1" dirty="0">
              <a:solidFill>
                <a:srgbClr val="000000"/>
              </a:solidFill>
              <a:latin typeface="Times New Roman Bold"/>
              <a:ea typeface="Times New Roman Bold"/>
              <a:cs typeface="Times New Roman Bold"/>
              <a:sym typeface="Times New Roman Bold"/>
            </a:endParaRPr>
          </a:p>
        </p:txBody>
      </p:sp>
      <p:graphicFrame>
        <p:nvGraphicFramePr>
          <p:cNvPr id="6" name="Table 5">
            <a:extLst>
              <a:ext uri="{FF2B5EF4-FFF2-40B4-BE49-F238E27FC236}">
                <a16:creationId xmlns:a16="http://schemas.microsoft.com/office/drawing/2014/main" id="{C536B672-E97A-81B3-B261-12B36E9DB047}"/>
              </a:ext>
            </a:extLst>
          </p:cNvPr>
          <p:cNvGraphicFramePr>
            <a:graphicFrameLocks noGrp="1"/>
          </p:cNvGraphicFramePr>
          <p:nvPr>
            <p:extLst>
              <p:ext uri="{D42A27DB-BD31-4B8C-83A1-F6EECF244321}">
                <p14:modId xmlns:p14="http://schemas.microsoft.com/office/powerpoint/2010/main" val="2758068152"/>
              </p:ext>
            </p:extLst>
          </p:nvPr>
        </p:nvGraphicFramePr>
        <p:xfrm>
          <a:off x="1371600" y="1514197"/>
          <a:ext cx="16002000" cy="7910969"/>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362542872"/>
                    </a:ext>
                  </a:extLst>
                </a:gridCol>
                <a:gridCol w="2667000">
                  <a:extLst>
                    <a:ext uri="{9D8B030D-6E8A-4147-A177-3AD203B41FA5}">
                      <a16:colId xmlns:a16="http://schemas.microsoft.com/office/drawing/2014/main" val="1557410423"/>
                    </a:ext>
                  </a:extLst>
                </a:gridCol>
                <a:gridCol w="2667000">
                  <a:extLst>
                    <a:ext uri="{9D8B030D-6E8A-4147-A177-3AD203B41FA5}">
                      <a16:colId xmlns:a16="http://schemas.microsoft.com/office/drawing/2014/main" val="3350110406"/>
                    </a:ext>
                  </a:extLst>
                </a:gridCol>
                <a:gridCol w="2667000">
                  <a:extLst>
                    <a:ext uri="{9D8B030D-6E8A-4147-A177-3AD203B41FA5}">
                      <a16:colId xmlns:a16="http://schemas.microsoft.com/office/drawing/2014/main" val="4071228371"/>
                    </a:ext>
                  </a:extLst>
                </a:gridCol>
                <a:gridCol w="2667000">
                  <a:extLst>
                    <a:ext uri="{9D8B030D-6E8A-4147-A177-3AD203B41FA5}">
                      <a16:colId xmlns:a16="http://schemas.microsoft.com/office/drawing/2014/main" val="1175056340"/>
                    </a:ext>
                  </a:extLst>
                </a:gridCol>
                <a:gridCol w="2667000">
                  <a:extLst>
                    <a:ext uri="{9D8B030D-6E8A-4147-A177-3AD203B41FA5}">
                      <a16:colId xmlns:a16="http://schemas.microsoft.com/office/drawing/2014/main" val="322374414"/>
                    </a:ext>
                  </a:extLst>
                </a:gridCol>
              </a:tblGrid>
              <a:tr h="585910">
                <a:tc>
                  <a:txBody>
                    <a:bodyPr/>
                    <a:lstStyle/>
                    <a:p>
                      <a:pPr algn="just" rtl="0" fontAlgn="b">
                        <a:buNone/>
                      </a:pPr>
                      <a:r>
                        <a:rPr lang="en-US" dirty="0">
                          <a:effectLst/>
                          <a:latin typeface="Times  New Roman"/>
                        </a:rPr>
                        <a:t>Module</a:t>
                      </a:r>
                    </a:p>
                  </a:txBody>
                  <a:tcPr marL="28575" marR="28575" marT="19050" marB="19050" anchor="b"/>
                </a:tc>
                <a:tc>
                  <a:txBody>
                    <a:bodyPr/>
                    <a:lstStyle/>
                    <a:p>
                      <a:pPr algn="just" rtl="0" fontAlgn="b">
                        <a:buNone/>
                      </a:pPr>
                      <a:r>
                        <a:rPr lang="en-US">
                          <a:effectLst/>
                          <a:latin typeface="Times  New Roman"/>
                        </a:rPr>
                        <a:t>Tổng số TC</a:t>
                      </a:r>
                    </a:p>
                  </a:txBody>
                  <a:tcPr marL="28575" marR="28575" marT="19050" marB="19050" anchor="b"/>
                </a:tc>
                <a:tc>
                  <a:txBody>
                    <a:bodyPr/>
                    <a:lstStyle/>
                    <a:p>
                      <a:pPr algn="just" rtl="0" fontAlgn="b">
                        <a:buNone/>
                      </a:pPr>
                      <a:r>
                        <a:rPr lang="en-US">
                          <a:effectLst/>
                          <a:latin typeface="Times  New Roman"/>
                        </a:rPr>
                        <a:t>PASS (✅)</a:t>
                      </a:r>
                    </a:p>
                  </a:txBody>
                  <a:tcPr marL="28575" marR="28575" marT="19050" marB="19050" anchor="b"/>
                </a:tc>
                <a:tc>
                  <a:txBody>
                    <a:bodyPr/>
                    <a:lstStyle/>
                    <a:p>
                      <a:pPr algn="just" rtl="0" fontAlgn="b">
                        <a:buNone/>
                      </a:pPr>
                      <a:r>
                        <a:rPr lang="en-US">
                          <a:effectLst/>
                          <a:latin typeface="Times  New Roman"/>
                        </a:rPr>
                        <a:t>FAIL (❌)</a:t>
                      </a:r>
                    </a:p>
                  </a:txBody>
                  <a:tcPr marL="28575" marR="28575" marT="19050" marB="19050" anchor="b"/>
                </a:tc>
                <a:tc>
                  <a:txBody>
                    <a:bodyPr/>
                    <a:lstStyle/>
                    <a:p>
                      <a:pPr algn="just" rtl="0" fontAlgn="b">
                        <a:buNone/>
                      </a:pPr>
                      <a:r>
                        <a:rPr lang="en-US">
                          <a:effectLst/>
                          <a:latin typeface="Times  New Roman"/>
                        </a:rPr>
                        <a:t>Phân tích nhanh nguyên nhân FAIL</a:t>
                      </a:r>
                    </a:p>
                  </a:txBody>
                  <a:tcPr marL="0" marR="0" marT="19050" marB="19050" anchor="b"/>
                </a:tc>
                <a:tc>
                  <a:txBody>
                    <a:bodyPr/>
                    <a:lstStyle/>
                    <a:p>
                      <a:pPr algn="just" rtl="0" fontAlgn="b">
                        <a:buNone/>
                      </a:pPr>
                      <a:r>
                        <a:rPr lang="en-US">
                          <a:effectLst/>
                          <a:latin typeface="Times  New Roman"/>
                        </a:rPr>
                        <a:t>Module</a:t>
                      </a:r>
                    </a:p>
                  </a:txBody>
                  <a:tcPr marL="28575" marR="28575" marT="19050" marB="19050" anchor="b"/>
                </a:tc>
                <a:extLst>
                  <a:ext uri="{0D108BD9-81ED-4DB2-BD59-A6C34878D82A}">
                    <a16:rowId xmlns:a16="http://schemas.microsoft.com/office/drawing/2014/main" val="3024459586"/>
                  </a:ext>
                </a:extLst>
              </a:tr>
              <a:tr h="1553284">
                <a:tc>
                  <a:txBody>
                    <a:bodyPr/>
                    <a:lstStyle/>
                    <a:p>
                      <a:pPr algn="just" rtl="0" fontAlgn="b">
                        <a:buNone/>
                      </a:pPr>
                      <a:r>
                        <a:rPr lang="en-US" dirty="0">
                          <a:effectLst/>
                          <a:latin typeface="Times  New Roman"/>
                        </a:rPr>
                        <a:t>1. Authentication</a:t>
                      </a:r>
                    </a:p>
                  </a:txBody>
                  <a:tcPr marL="28575" marR="28575" marT="19050" marB="19050" anchor="b"/>
                </a:tc>
                <a:tc>
                  <a:txBody>
                    <a:bodyPr/>
                    <a:lstStyle/>
                    <a:p>
                      <a:pPr algn="just" rtl="0" fontAlgn="b">
                        <a:buNone/>
                      </a:pPr>
                      <a:r>
                        <a:rPr lang="en-US">
                          <a:effectLst/>
                          <a:latin typeface="Times  New Roman"/>
                        </a:rPr>
                        <a:t>12</a:t>
                      </a:r>
                    </a:p>
                  </a:txBody>
                  <a:tcPr marL="28575" marR="28575" marT="19050" marB="19050" anchor="b"/>
                </a:tc>
                <a:tc>
                  <a:txBody>
                    <a:bodyPr/>
                    <a:lstStyle/>
                    <a:p>
                      <a:pPr algn="just" rtl="0" fontAlgn="b">
                        <a:buNone/>
                      </a:pPr>
                      <a:r>
                        <a:rPr lang="en-US">
                          <a:effectLst/>
                          <a:latin typeface="Times  New Roman"/>
                        </a:rPr>
                        <a:t>10</a:t>
                      </a:r>
                    </a:p>
                  </a:txBody>
                  <a:tcPr marL="28575" marR="28575" marT="19050" marB="19050" anchor="b"/>
                </a:tc>
                <a:tc>
                  <a:txBody>
                    <a:bodyPr/>
                    <a:lstStyle/>
                    <a:p>
                      <a:pPr algn="just" rtl="0" fontAlgn="b">
                        <a:buNone/>
                      </a:pPr>
                      <a:r>
                        <a:rPr lang="en-US">
                          <a:effectLst/>
                          <a:latin typeface="Times  New Roman"/>
                        </a:rPr>
                        <a:t>2</a:t>
                      </a:r>
                    </a:p>
                  </a:txBody>
                  <a:tcPr marL="28575" marR="28575" marT="19050" marB="19050" anchor="b"/>
                </a:tc>
                <a:tc>
                  <a:txBody>
                    <a:bodyPr/>
                    <a:lstStyle/>
                    <a:p>
                      <a:pPr algn="just" rtl="0" fontAlgn="b">
                        <a:buNone/>
                      </a:pPr>
                      <a:r>
                        <a:rPr lang="en-US" dirty="0" err="1">
                          <a:effectLst/>
                          <a:latin typeface="Times  New Roman"/>
                        </a:rPr>
                        <a:t>Lọt</a:t>
                      </a:r>
                      <a:r>
                        <a:rPr lang="en-US" dirty="0">
                          <a:effectLst/>
                          <a:latin typeface="Times  New Roman"/>
                        </a:rPr>
                        <a:t> </a:t>
                      </a:r>
                      <a:r>
                        <a:rPr lang="en-US" dirty="0" err="1">
                          <a:effectLst/>
                          <a:latin typeface="Times  New Roman"/>
                        </a:rPr>
                        <a:t>dữ</a:t>
                      </a:r>
                      <a:r>
                        <a:rPr lang="en-US" dirty="0">
                          <a:effectLst/>
                          <a:latin typeface="Times  New Roman"/>
                        </a:rPr>
                        <a:t> </a:t>
                      </a:r>
                      <a:r>
                        <a:rPr lang="en-US" dirty="0" err="1">
                          <a:effectLst/>
                          <a:latin typeface="Times  New Roman"/>
                        </a:rPr>
                        <a:t>liệu</a:t>
                      </a:r>
                      <a:r>
                        <a:rPr lang="en-US" dirty="0">
                          <a:effectLst/>
                          <a:latin typeface="Times  New Roman"/>
                        </a:rPr>
                        <a:t> </a:t>
                      </a:r>
                      <a:r>
                        <a:rPr lang="en-US" dirty="0" err="1">
                          <a:effectLst/>
                          <a:latin typeface="Times  New Roman"/>
                        </a:rPr>
                        <a:t>rỗng</a:t>
                      </a:r>
                      <a:r>
                        <a:rPr lang="en-US" dirty="0">
                          <a:effectLst/>
                          <a:latin typeface="Times  New Roman"/>
                        </a:rPr>
                        <a:t> (</a:t>
                      </a:r>
                      <a:r>
                        <a:rPr lang="en-US" dirty="0" err="1">
                          <a:effectLst/>
                          <a:latin typeface="Times  New Roman"/>
                        </a:rPr>
                        <a:t>thiếu</a:t>
                      </a:r>
                      <a:r>
                        <a:rPr lang="en-US" dirty="0">
                          <a:effectLst/>
                          <a:latin typeface="Times  New Roman"/>
                        </a:rPr>
                        <a:t> password/name) </a:t>
                      </a:r>
                      <a:r>
                        <a:rPr lang="en-US" dirty="0" err="1">
                          <a:effectLst/>
                          <a:latin typeface="Times  New Roman"/>
                        </a:rPr>
                        <a:t>xuống</a:t>
                      </a:r>
                      <a:r>
                        <a:rPr lang="en-US" dirty="0">
                          <a:effectLst/>
                          <a:latin typeface="Times  New Roman"/>
                        </a:rPr>
                        <a:t> Database </a:t>
                      </a:r>
                      <a:r>
                        <a:rPr lang="en-US" dirty="0" err="1">
                          <a:effectLst/>
                          <a:latin typeface="Times  New Roman"/>
                        </a:rPr>
                        <a:t>gây</a:t>
                      </a:r>
                      <a:r>
                        <a:rPr lang="en-US" dirty="0">
                          <a:effectLst/>
                          <a:latin typeface="Times  New Roman"/>
                        </a:rPr>
                        <a:t> </a:t>
                      </a:r>
                      <a:r>
                        <a:rPr lang="en-US" dirty="0" err="1">
                          <a:effectLst/>
                          <a:latin typeface="Times  New Roman"/>
                        </a:rPr>
                        <a:t>sập</a:t>
                      </a:r>
                      <a:r>
                        <a:rPr lang="en-US" dirty="0">
                          <a:effectLst/>
                          <a:latin typeface="Times  New Roman"/>
                        </a:rPr>
                        <a:t> Server (TC-AUTH-03, TC-AUTH-08).</a:t>
                      </a:r>
                    </a:p>
                  </a:txBody>
                  <a:tcPr marL="0" marR="0" marT="19050" marB="19050" anchor="b"/>
                </a:tc>
                <a:tc>
                  <a:txBody>
                    <a:bodyPr/>
                    <a:lstStyle/>
                    <a:p>
                      <a:pPr algn="just" rtl="0" fontAlgn="b">
                        <a:buNone/>
                      </a:pPr>
                      <a:r>
                        <a:rPr lang="en-US">
                          <a:effectLst/>
                          <a:latin typeface="Times  New Roman"/>
                        </a:rPr>
                        <a:t>1. Authentication</a:t>
                      </a:r>
                    </a:p>
                  </a:txBody>
                  <a:tcPr marL="28575" marR="28575" marT="19050" marB="19050" anchor="b"/>
                </a:tc>
                <a:extLst>
                  <a:ext uri="{0D108BD9-81ED-4DB2-BD59-A6C34878D82A}">
                    <a16:rowId xmlns:a16="http://schemas.microsoft.com/office/drawing/2014/main" val="2427186429"/>
                  </a:ext>
                </a:extLst>
              </a:tr>
              <a:tr h="859842">
                <a:tc>
                  <a:txBody>
                    <a:bodyPr/>
                    <a:lstStyle/>
                    <a:p>
                      <a:pPr algn="just" rtl="0" fontAlgn="b">
                        <a:buNone/>
                      </a:pPr>
                      <a:r>
                        <a:rPr lang="en-US">
                          <a:effectLst/>
                          <a:latin typeface="Times  New Roman"/>
                        </a:rPr>
                        <a:t>2. Product</a:t>
                      </a:r>
                    </a:p>
                  </a:txBody>
                  <a:tcPr marL="28575" marR="28575" marT="19050" marB="19050" anchor="b"/>
                </a:tc>
                <a:tc>
                  <a:txBody>
                    <a:bodyPr/>
                    <a:lstStyle/>
                    <a:p>
                      <a:pPr algn="just" rtl="0" fontAlgn="b">
                        <a:buNone/>
                      </a:pPr>
                      <a:r>
                        <a:rPr lang="en-US">
                          <a:effectLst/>
                          <a:latin typeface="Times  New Roman"/>
                        </a:rPr>
                        <a:t>10</a:t>
                      </a:r>
                    </a:p>
                  </a:txBody>
                  <a:tcPr marL="28575" marR="28575" marT="19050" marB="19050" anchor="b"/>
                </a:tc>
                <a:tc>
                  <a:txBody>
                    <a:bodyPr/>
                    <a:lstStyle/>
                    <a:p>
                      <a:pPr algn="just" rtl="0" fontAlgn="b">
                        <a:buNone/>
                      </a:pPr>
                      <a:r>
                        <a:rPr lang="en-US">
                          <a:effectLst/>
                          <a:latin typeface="Times  New Roman"/>
                        </a:rPr>
                        <a:t>10</a:t>
                      </a:r>
                    </a:p>
                  </a:txBody>
                  <a:tcPr marL="28575" marR="28575" marT="19050" marB="19050" anchor="b"/>
                </a:tc>
                <a:tc>
                  <a:txBody>
                    <a:bodyPr/>
                    <a:lstStyle/>
                    <a:p>
                      <a:pPr algn="just" rtl="0" fontAlgn="b">
                        <a:buNone/>
                      </a:pPr>
                      <a:r>
                        <a:rPr lang="en-US">
                          <a:effectLst/>
                          <a:latin typeface="Times  New Roman"/>
                        </a:rPr>
                        <a:t>0</a:t>
                      </a:r>
                    </a:p>
                  </a:txBody>
                  <a:tcPr marL="28575" marR="28575" marT="19050" marB="19050" anchor="b"/>
                </a:tc>
                <a:tc>
                  <a:txBody>
                    <a:bodyPr/>
                    <a:lstStyle/>
                    <a:p>
                      <a:pPr algn="just" rtl="0" fontAlgn="b">
                        <a:buNone/>
                      </a:pPr>
                      <a:r>
                        <a:rPr lang="en-US">
                          <a:effectLst/>
                          <a:latin typeface="Times  New Roman"/>
                        </a:rPr>
                        <a:t>Hệ thống phân quyền (RBAC) và API Public hoạt động ổn định.</a:t>
                      </a:r>
                    </a:p>
                  </a:txBody>
                  <a:tcPr marL="0" marR="0" marT="19050" marB="19050" anchor="b"/>
                </a:tc>
                <a:tc>
                  <a:txBody>
                    <a:bodyPr/>
                    <a:lstStyle/>
                    <a:p>
                      <a:pPr algn="just" rtl="0" fontAlgn="b">
                        <a:buNone/>
                      </a:pPr>
                      <a:r>
                        <a:rPr lang="en-US">
                          <a:effectLst/>
                          <a:latin typeface="Times  New Roman"/>
                        </a:rPr>
                        <a:t>2. Product</a:t>
                      </a:r>
                    </a:p>
                  </a:txBody>
                  <a:tcPr marL="28575" marR="28575" marT="19050" marB="19050" anchor="b"/>
                </a:tc>
                <a:extLst>
                  <a:ext uri="{0D108BD9-81ED-4DB2-BD59-A6C34878D82A}">
                    <a16:rowId xmlns:a16="http://schemas.microsoft.com/office/drawing/2014/main" val="2618335191"/>
                  </a:ext>
                </a:extLst>
              </a:tr>
              <a:tr h="1133774">
                <a:tc>
                  <a:txBody>
                    <a:bodyPr/>
                    <a:lstStyle/>
                    <a:p>
                      <a:pPr algn="just" rtl="0" fontAlgn="b">
                        <a:buNone/>
                      </a:pPr>
                      <a:r>
                        <a:rPr lang="en-US">
                          <a:effectLst/>
                          <a:latin typeface="Times  New Roman"/>
                        </a:rPr>
                        <a:t>3. Order</a:t>
                      </a:r>
                    </a:p>
                  </a:txBody>
                  <a:tcPr marL="28575" marR="28575" marT="19050" marB="19050" anchor="b"/>
                </a:tc>
                <a:tc>
                  <a:txBody>
                    <a:bodyPr/>
                    <a:lstStyle/>
                    <a:p>
                      <a:pPr algn="just" rtl="0" fontAlgn="b">
                        <a:buNone/>
                      </a:pPr>
                      <a:r>
                        <a:rPr lang="en-US">
                          <a:effectLst/>
                          <a:latin typeface="Times  New Roman"/>
                        </a:rPr>
                        <a:t>7</a:t>
                      </a:r>
                    </a:p>
                  </a:txBody>
                  <a:tcPr marL="28575" marR="28575" marT="19050" marB="19050" anchor="b"/>
                </a:tc>
                <a:tc>
                  <a:txBody>
                    <a:bodyPr/>
                    <a:lstStyle/>
                    <a:p>
                      <a:pPr algn="just" rtl="0" fontAlgn="b">
                        <a:buNone/>
                      </a:pPr>
                      <a:r>
                        <a:rPr lang="en-US">
                          <a:effectLst/>
                          <a:latin typeface="Times  New Roman"/>
                        </a:rPr>
                        <a:t>7</a:t>
                      </a:r>
                    </a:p>
                  </a:txBody>
                  <a:tcPr marL="28575" marR="28575" marT="19050" marB="19050" anchor="b"/>
                </a:tc>
                <a:tc>
                  <a:txBody>
                    <a:bodyPr/>
                    <a:lstStyle/>
                    <a:p>
                      <a:pPr algn="just" rtl="0" fontAlgn="b">
                        <a:buNone/>
                      </a:pPr>
                      <a:r>
                        <a:rPr lang="en-US">
                          <a:effectLst/>
                          <a:latin typeface="Times  New Roman"/>
                        </a:rPr>
                        <a:t>0</a:t>
                      </a:r>
                    </a:p>
                  </a:txBody>
                  <a:tcPr marL="28575" marR="28575" marT="19050" marB="19050" anchor="b"/>
                </a:tc>
                <a:tc>
                  <a:txBody>
                    <a:bodyPr/>
                    <a:lstStyle/>
                    <a:p>
                      <a:pPr algn="just" rtl="0" fontAlgn="b">
                        <a:buNone/>
                      </a:pPr>
                      <a:r>
                        <a:rPr lang="vi-VN" dirty="0">
                          <a:effectLst/>
                          <a:latin typeface="Times  New Roman"/>
                        </a:rPr>
                        <a:t>Đã vá thành công lỗi IDOR, bảo mật tốt thông tin đơn hàng chéo.</a:t>
                      </a:r>
                    </a:p>
                  </a:txBody>
                  <a:tcPr marL="0" marR="0" marT="19050" marB="19050" anchor="b"/>
                </a:tc>
                <a:tc>
                  <a:txBody>
                    <a:bodyPr/>
                    <a:lstStyle/>
                    <a:p>
                      <a:pPr algn="just" rtl="0" fontAlgn="b">
                        <a:buNone/>
                      </a:pPr>
                      <a:r>
                        <a:rPr lang="en-US">
                          <a:effectLst/>
                          <a:latin typeface="Times  New Roman"/>
                        </a:rPr>
                        <a:t>3. Order</a:t>
                      </a:r>
                    </a:p>
                  </a:txBody>
                  <a:tcPr marL="28575" marR="28575" marT="19050" marB="19050" anchor="b"/>
                </a:tc>
                <a:extLst>
                  <a:ext uri="{0D108BD9-81ED-4DB2-BD59-A6C34878D82A}">
                    <a16:rowId xmlns:a16="http://schemas.microsoft.com/office/drawing/2014/main" val="1585112494"/>
                  </a:ext>
                </a:extLst>
              </a:tr>
              <a:tr h="1047237">
                <a:tc>
                  <a:txBody>
                    <a:bodyPr/>
                    <a:lstStyle/>
                    <a:p>
                      <a:pPr algn="just" rtl="0" fontAlgn="b">
                        <a:buNone/>
                      </a:pPr>
                      <a:r>
                        <a:rPr lang="en-US">
                          <a:effectLst/>
                          <a:latin typeface="Times  New Roman"/>
                        </a:rPr>
                        <a:t>4. Review</a:t>
                      </a:r>
                    </a:p>
                  </a:txBody>
                  <a:tcPr marL="28575" marR="28575" marT="19050" marB="19050" anchor="b"/>
                </a:tc>
                <a:tc>
                  <a:txBody>
                    <a:bodyPr/>
                    <a:lstStyle/>
                    <a:p>
                      <a:pPr algn="just" rtl="0" fontAlgn="b">
                        <a:buNone/>
                      </a:pPr>
                      <a:r>
                        <a:rPr lang="en-US">
                          <a:effectLst/>
                          <a:latin typeface="Times  New Roman"/>
                        </a:rPr>
                        <a:t>7</a:t>
                      </a:r>
                    </a:p>
                  </a:txBody>
                  <a:tcPr marL="28575" marR="28575" marT="19050" marB="19050" anchor="b"/>
                </a:tc>
                <a:tc>
                  <a:txBody>
                    <a:bodyPr/>
                    <a:lstStyle/>
                    <a:p>
                      <a:pPr algn="just" rtl="0" fontAlgn="b">
                        <a:buNone/>
                      </a:pPr>
                      <a:r>
                        <a:rPr lang="en-US">
                          <a:effectLst/>
                          <a:latin typeface="Times  New Roman"/>
                        </a:rPr>
                        <a:t>7</a:t>
                      </a:r>
                    </a:p>
                  </a:txBody>
                  <a:tcPr marL="28575" marR="28575" marT="19050" marB="19050" anchor="b"/>
                </a:tc>
                <a:tc>
                  <a:txBody>
                    <a:bodyPr/>
                    <a:lstStyle/>
                    <a:p>
                      <a:pPr algn="just" rtl="0" fontAlgn="b">
                        <a:buNone/>
                      </a:pPr>
                      <a:r>
                        <a:rPr lang="en-US">
                          <a:effectLst/>
                          <a:latin typeface="Times  New Roman"/>
                        </a:rPr>
                        <a:t>0</a:t>
                      </a:r>
                    </a:p>
                  </a:txBody>
                  <a:tcPr marL="28575" marR="28575" marT="19050" marB="19050" anchor="b"/>
                </a:tc>
                <a:tc>
                  <a:txBody>
                    <a:bodyPr/>
                    <a:lstStyle/>
                    <a:p>
                      <a:pPr algn="just" rtl="0" fontAlgn="b">
                        <a:buNone/>
                      </a:pPr>
                      <a:r>
                        <a:rPr lang="en-US">
                          <a:effectLst/>
                          <a:latin typeface="Times  New Roman"/>
                        </a:rPr>
                        <a:t>Business Logic chặn đánh giá khống và spam hoạt động chính xác.</a:t>
                      </a:r>
                    </a:p>
                  </a:txBody>
                  <a:tcPr marL="0" marR="0" marT="19050" marB="19050" anchor="b"/>
                </a:tc>
                <a:tc>
                  <a:txBody>
                    <a:bodyPr/>
                    <a:lstStyle/>
                    <a:p>
                      <a:pPr algn="just" rtl="0" fontAlgn="b">
                        <a:buNone/>
                      </a:pPr>
                      <a:r>
                        <a:rPr lang="en-US">
                          <a:effectLst/>
                          <a:latin typeface="Times  New Roman"/>
                        </a:rPr>
                        <a:t>4. Review</a:t>
                      </a:r>
                    </a:p>
                  </a:txBody>
                  <a:tcPr marL="28575" marR="28575" marT="19050" marB="19050" anchor="b"/>
                </a:tc>
                <a:extLst>
                  <a:ext uri="{0D108BD9-81ED-4DB2-BD59-A6C34878D82A}">
                    <a16:rowId xmlns:a16="http://schemas.microsoft.com/office/drawing/2014/main" val="2288385270"/>
                  </a:ext>
                </a:extLst>
              </a:tr>
              <a:tr h="1681637">
                <a:tc>
                  <a:txBody>
                    <a:bodyPr/>
                    <a:lstStyle/>
                    <a:p>
                      <a:pPr algn="just" rtl="0" fontAlgn="b">
                        <a:buNone/>
                      </a:pPr>
                      <a:r>
                        <a:rPr lang="en-US">
                          <a:effectLst/>
                          <a:latin typeface="Times  New Roman"/>
                        </a:rPr>
                        <a:t>5. Admin</a:t>
                      </a:r>
                    </a:p>
                  </a:txBody>
                  <a:tcPr marL="28575" marR="28575" marT="19050" marB="19050" anchor="b"/>
                </a:tc>
                <a:tc>
                  <a:txBody>
                    <a:bodyPr/>
                    <a:lstStyle/>
                    <a:p>
                      <a:pPr algn="just" rtl="0" fontAlgn="b">
                        <a:buNone/>
                      </a:pPr>
                      <a:r>
                        <a:rPr lang="en-US">
                          <a:effectLst/>
                          <a:latin typeface="Times  New Roman"/>
                        </a:rPr>
                        <a:t>7</a:t>
                      </a:r>
                    </a:p>
                  </a:txBody>
                  <a:tcPr marL="28575" marR="28575" marT="19050" marB="19050" anchor="b"/>
                </a:tc>
                <a:tc>
                  <a:txBody>
                    <a:bodyPr/>
                    <a:lstStyle/>
                    <a:p>
                      <a:pPr algn="just" rtl="0" fontAlgn="b">
                        <a:buNone/>
                      </a:pPr>
                      <a:r>
                        <a:rPr lang="en-US">
                          <a:effectLst/>
                          <a:latin typeface="Times  New Roman"/>
                        </a:rPr>
                        <a:t>6</a:t>
                      </a:r>
                    </a:p>
                  </a:txBody>
                  <a:tcPr marL="28575" marR="28575" marT="19050" marB="19050" anchor="b"/>
                </a:tc>
                <a:tc>
                  <a:txBody>
                    <a:bodyPr/>
                    <a:lstStyle/>
                    <a:p>
                      <a:pPr algn="just" rtl="0" fontAlgn="b">
                        <a:buNone/>
                      </a:pPr>
                      <a:r>
                        <a:rPr lang="en-US">
                          <a:effectLst/>
                          <a:latin typeface="Times  New Roman"/>
                        </a:rPr>
                        <a:t>1</a:t>
                      </a:r>
                    </a:p>
                  </a:txBody>
                  <a:tcPr marL="28575" marR="28575" marT="19050" marB="19050" anchor="b"/>
                </a:tc>
                <a:tc>
                  <a:txBody>
                    <a:bodyPr/>
                    <a:lstStyle/>
                    <a:p>
                      <a:pPr algn="just" rtl="0" fontAlgn="b">
                        <a:buNone/>
                      </a:pPr>
                      <a:r>
                        <a:rPr lang="vi-VN">
                          <a:effectLst/>
                          <a:latin typeface="Times  New Roman"/>
                        </a:rPr>
                        <a:t>Lỗi toàn vẹn dữ liệu khi Xóa User (TC-ADM-06) do chưa dọn dẹp các bản ghi phụ thuộc (Cascade Delete).</a:t>
                      </a:r>
                    </a:p>
                  </a:txBody>
                  <a:tcPr marL="0" marR="0" marT="19050" marB="19050" anchor="b"/>
                </a:tc>
                <a:tc>
                  <a:txBody>
                    <a:bodyPr/>
                    <a:lstStyle/>
                    <a:p>
                      <a:pPr algn="just" rtl="0" fontAlgn="b">
                        <a:buNone/>
                      </a:pPr>
                      <a:r>
                        <a:rPr lang="en-US">
                          <a:effectLst/>
                          <a:latin typeface="Times  New Roman"/>
                        </a:rPr>
                        <a:t>5. Admin</a:t>
                      </a:r>
                    </a:p>
                  </a:txBody>
                  <a:tcPr marL="28575" marR="28575" marT="19050" marB="19050" anchor="b"/>
                </a:tc>
                <a:extLst>
                  <a:ext uri="{0D108BD9-81ED-4DB2-BD59-A6C34878D82A}">
                    <a16:rowId xmlns:a16="http://schemas.microsoft.com/office/drawing/2014/main" val="582492481"/>
                  </a:ext>
                </a:extLst>
              </a:tr>
              <a:tr h="1047237">
                <a:tc>
                  <a:txBody>
                    <a:bodyPr/>
                    <a:lstStyle/>
                    <a:p>
                      <a:pPr algn="just" rtl="0" fontAlgn="b">
                        <a:buNone/>
                      </a:pPr>
                      <a:r>
                        <a:rPr lang="en-US">
                          <a:effectLst/>
                          <a:latin typeface="Times  New Roman"/>
                        </a:rPr>
                        <a:t>Tổng cộng</a:t>
                      </a:r>
                    </a:p>
                  </a:txBody>
                  <a:tcPr marL="28575" marR="28575" marT="19050" marB="19050" anchor="b"/>
                </a:tc>
                <a:tc>
                  <a:txBody>
                    <a:bodyPr/>
                    <a:lstStyle/>
                    <a:p>
                      <a:pPr algn="just" rtl="0" fontAlgn="b">
                        <a:buNone/>
                      </a:pPr>
                      <a:r>
                        <a:rPr lang="en-US">
                          <a:effectLst/>
                          <a:latin typeface="Times  New Roman"/>
                        </a:rPr>
                        <a:t>43</a:t>
                      </a:r>
                    </a:p>
                  </a:txBody>
                  <a:tcPr marL="28575" marR="28575" marT="19050" marB="19050" anchor="b"/>
                </a:tc>
                <a:tc>
                  <a:txBody>
                    <a:bodyPr/>
                    <a:lstStyle/>
                    <a:p>
                      <a:pPr algn="just" rtl="0" fontAlgn="b">
                        <a:buNone/>
                      </a:pPr>
                      <a:r>
                        <a:rPr lang="en-US">
                          <a:effectLst/>
                          <a:latin typeface="Times  New Roman"/>
                        </a:rPr>
                        <a:t>40</a:t>
                      </a:r>
                    </a:p>
                  </a:txBody>
                  <a:tcPr marL="28575" marR="28575" marT="19050" marB="19050" anchor="b"/>
                </a:tc>
                <a:tc>
                  <a:txBody>
                    <a:bodyPr/>
                    <a:lstStyle/>
                    <a:p>
                      <a:pPr algn="just" rtl="0" fontAlgn="b">
                        <a:buNone/>
                      </a:pPr>
                      <a:r>
                        <a:rPr lang="en-US">
                          <a:effectLst/>
                          <a:latin typeface="Times  New Roman"/>
                        </a:rPr>
                        <a:t>3</a:t>
                      </a:r>
                    </a:p>
                  </a:txBody>
                  <a:tcPr marL="28575" marR="28575" marT="19050" marB="19050" anchor="b"/>
                </a:tc>
                <a:tc>
                  <a:txBody>
                    <a:bodyPr/>
                    <a:lstStyle/>
                    <a:p>
                      <a:pPr algn="just" rtl="0" fontAlgn="b">
                        <a:buNone/>
                      </a:pPr>
                      <a:r>
                        <a:rPr lang="en-US">
                          <a:effectLst/>
                          <a:latin typeface="Times  New Roman"/>
                        </a:rPr>
                        <a:t>Tỷ lệ Pass đạt mức ~93%.</a:t>
                      </a:r>
                    </a:p>
                  </a:txBody>
                  <a:tcPr marL="0" marR="0" marT="19050" marB="19050" anchor="b"/>
                </a:tc>
                <a:tc>
                  <a:txBody>
                    <a:bodyPr/>
                    <a:lstStyle/>
                    <a:p>
                      <a:pPr algn="just" rtl="0" fontAlgn="b">
                        <a:buNone/>
                      </a:pPr>
                      <a:r>
                        <a:rPr lang="en-US" dirty="0" err="1">
                          <a:effectLst/>
                          <a:latin typeface="Times  New Roman"/>
                        </a:rPr>
                        <a:t>Tổng</a:t>
                      </a:r>
                      <a:r>
                        <a:rPr lang="en-US" dirty="0">
                          <a:effectLst/>
                          <a:latin typeface="Times  New Roman"/>
                        </a:rPr>
                        <a:t> </a:t>
                      </a:r>
                      <a:r>
                        <a:rPr lang="en-US" dirty="0" err="1">
                          <a:effectLst/>
                          <a:latin typeface="Times  New Roman"/>
                        </a:rPr>
                        <a:t>cộng</a:t>
                      </a:r>
                      <a:endParaRPr lang="en-US" dirty="0">
                        <a:effectLst/>
                        <a:latin typeface="Times  New Roman"/>
                      </a:endParaRPr>
                    </a:p>
                  </a:txBody>
                  <a:tcPr marL="28575" marR="28575" marT="19050" marB="19050" anchor="b"/>
                </a:tc>
                <a:extLst>
                  <a:ext uri="{0D108BD9-81ED-4DB2-BD59-A6C34878D82A}">
                    <a16:rowId xmlns:a16="http://schemas.microsoft.com/office/drawing/2014/main" val="199810667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933450"/>
            <a:ext cx="6089154" cy="731520"/>
          </a:xfrm>
          <a:prstGeom prst="rect">
            <a:avLst/>
          </a:prstGeom>
        </p:spPr>
        <p:txBody>
          <a:bodyPr lIns="0" tIns="0" rIns="0" bIns="0" rtlCol="0" anchor="t">
            <a:spAutoFit/>
          </a:bodyPr>
          <a:lstStyle/>
          <a:p>
            <a:pPr algn="ctr">
              <a:lnSpc>
                <a:spcPts val="5880"/>
              </a:lnSpc>
              <a:spcBef>
                <a:spcPct val="0"/>
              </a:spcBef>
            </a:pPr>
            <a:r>
              <a:rPr lang="en-US" sz="4200" b="1">
                <a:solidFill>
                  <a:srgbClr val="000000"/>
                </a:solidFill>
                <a:latin typeface="Times New Roman Bold"/>
                <a:ea typeface="Times New Roman Bold"/>
                <a:cs typeface="Times New Roman Bold"/>
                <a:sym typeface="Times New Roman Bold"/>
              </a:rPr>
              <a:t>Demo Kịch Bản Kiểm Thử</a:t>
            </a:r>
          </a:p>
        </p:txBody>
      </p:sp>
      <p:sp>
        <p:nvSpPr>
          <p:cNvPr id="5" name="TextBox 5"/>
          <p:cNvSpPr txBox="1"/>
          <p:nvPr/>
        </p:nvSpPr>
        <p:spPr>
          <a:xfrm>
            <a:off x="1028700" y="1963145"/>
            <a:ext cx="12878052" cy="5624194"/>
          </a:xfrm>
          <a:prstGeom prst="rect">
            <a:avLst/>
          </a:prstGeom>
        </p:spPr>
        <p:txBody>
          <a:bodyPr lIns="0" tIns="0" rIns="0" bIns="0" rtlCol="0" anchor="t">
            <a:spAutoFit/>
          </a:bodyPr>
          <a:lstStyle/>
          <a:p>
            <a:pPr marL="690885" lvl="1" indent="-345443" algn="l">
              <a:lnSpc>
                <a:spcPts val="4480"/>
              </a:lnSpc>
              <a:buFont typeface="Arial"/>
              <a:buChar char="•"/>
            </a:pPr>
            <a:r>
              <a:rPr lang="en-US" sz="3200">
                <a:solidFill>
                  <a:srgbClr val="000000"/>
                </a:solidFill>
                <a:latin typeface="Times New Roman"/>
                <a:ea typeface="Times New Roman"/>
                <a:cs typeface="Times New Roman"/>
                <a:sym typeface="Times New Roman"/>
              </a:rPr>
              <a:t>Mã Kịch Bản: TC-ORD-01 - Khởi tạo Đơn hàng Thành công.</a:t>
            </a:r>
          </a:p>
          <a:p>
            <a:pPr marL="690885" lvl="1" indent="-345443" algn="l">
              <a:lnSpc>
                <a:spcPts val="4480"/>
              </a:lnSpc>
              <a:buFont typeface="Arial"/>
              <a:buChar char="•"/>
            </a:pPr>
            <a:r>
              <a:rPr lang="en-US" sz="3200">
                <a:solidFill>
                  <a:srgbClr val="000000"/>
                </a:solidFill>
                <a:latin typeface="Times New Roman"/>
                <a:ea typeface="Times New Roman"/>
                <a:cs typeface="Times New Roman"/>
                <a:sym typeface="Times New Roman"/>
              </a:rPr>
              <a:t>Mục tiêu: Đảm bảo khách hàng tạo giỏ hàng trơn tru khi thông tin hợp lệ.</a:t>
            </a:r>
          </a:p>
          <a:p>
            <a:pPr marL="690885" lvl="1" indent="-345443" algn="l">
              <a:lnSpc>
                <a:spcPts val="4480"/>
              </a:lnSpc>
              <a:buFont typeface="Arial"/>
              <a:buChar char="•"/>
            </a:pPr>
            <a:r>
              <a:rPr lang="en-US" sz="3200">
                <a:solidFill>
                  <a:srgbClr val="000000"/>
                </a:solidFill>
                <a:latin typeface="Times New Roman"/>
                <a:ea typeface="Times New Roman"/>
                <a:cs typeface="Times New Roman"/>
                <a:sym typeface="Times New Roman"/>
              </a:rPr>
              <a:t>Dữ liệu Đầu vào (Input): Token ủy quyền hợp lệ của User + Payload Đơn hàng (danh sách sản phẩm, địa chỉ giao hàng đầy đủ).</a:t>
            </a:r>
          </a:p>
          <a:p>
            <a:pPr marL="690885" lvl="1" indent="-345443" algn="l">
              <a:lnSpc>
                <a:spcPts val="4480"/>
              </a:lnSpc>
              <a:buFont typeface="Arial"/>
              <a:buChar char="•"/>
            </a:pPr>
            <a:r>
              <a:rPr lang="en-US" sz="3200">
                <a:solidFill>
                  <a:srgbClr val="000000"/>
                </a:solidFill>
                <a:latin typeface="Times New Roman"/>
                <a:ea typeface="Times New Roman"/>
                <a:cs typeface="Times New Roman"/>
                <a:sym typeface="Times New Roman"/>
              </a:rPr>
              <a:t>Kết quả Mong đợi (Expected): Hệ thống lưu Database và trả về mã HTTP 201 Created.</a:t>
            </a:r>
          </a:p>
          <a:p>
            <a:pPr marL="690885" lvl="1" indent="-345443" algn="l">
              <a:lnSpc>
                <a:spcPts val="4480"/>
              </a:lnSpc>
              <a:buFont typeface="Arial"/>
              <a:buChar char="•"/>
            </a:pPr>
            <a:r>
              <a:rPr lang="en-US" sz="3200">
                <a:solidFill>
                  <a:srgbClr val="000000"/>
                </a:solidFill>
                <a:latin typeface="Times New Roman"/>
                <a:ea typeface="Times New Roman"/>
                <a:cs typeface="Times New Roman"/>
                <a:sym typeface="Times New Roman"/>
              </a:rPr>
              <a:t>Kết quả Thực tế (Actual): Máy chủ ghi nhận dữ liệu chính xác, xuất mã 201.</a:t>
            </a:r>
          </a:p>
          <a:p>
            <a:pPr marL="690885" lvl="1" indent="-345443" algn="l">
              <a:lnSpc>
                <a:spcPts val="4480"/>
              </a:lnSpc>
              <a:buFont typeface="Arial"/>
              <a:buChar char="•"/>
            </a:pPr>
            <a:r>
              <a:rPr lang="en-US" sz="3200">
                <a:solidFill>
                  <a:srgbClr val="000000"/>
                </a:solidFill>
                <a:latin typeface="Times New Roman"/>
                <a:ea typeface="Times New Roman"/>
                <a:cs typeface="Times New Roman"/>
                <a:sym typeface="Times New Roman"/>
              </a:rPr>
              <a:t>Đánh giá Trạng thái: PASS - Hoạt động đúng thiết kế.</a:t>
            </a:r>
          </a:p>
          <a:p>
            <a:pPr algn="l">
              <a:lnSpc>
                <a:spcPts val="4480"/>
              </a:lnSpc>
              <a:spcBef>
                <a:spcPct val="0"/>
              </a:spcBef>
            </a:pPr>
            <a:endParaRPr lang="en-US" sz="32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11642">
            <a:off x="11120480" y="1055557"/>
            <a:ext cx="10443683" cy="8487866"/>
          </a:xfrm>
          <a:custGeom>
            <a:avLst/>
            <a:gdLst/>
            <a:ahLst/>
            <a:cxnLst/>
            <a:rect l="l" t="t" r="r" b="b"/>
            <a:pathLst>
              <a:path w="10443683" h="8487866">
                <a:moveTo>
                  <a:pt x="0" y="0"/>
                </a:moveTo>
                <a:lnTo>
                  <a:pt x="10443683" y="0"/>
                </a:lnTo>
                <a:lnTo>
                  <a:pt x="10443683" y="8487866"/>
                </a:lnTo>
                <a:lnTo>
                  <a:pt x="0" y="8487866"/>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245646" y="933450"/>
            <a:ext cx="2845147" cy="731520"/>
          </a:xfrm>
          <a:prstGeom prst="rect">
            <a:avLst/>
          </a:prstGeom>
        </p:spPr>
        <p:txBody>
          <a:bodyPr lIns="0" tIns="0" rIns="0" bIns="0" rtlCol="0" anchor="t">
            <a:spAutoFit/>
          </a:bodyPr>
          <a:lstStyle/>
          <a:p>
            <a:pPr algn="ctr">
              <a:lnSpc>
                <a:spcPts val="5880"/>
              </a:lnSpc>
              <a:spcBef>
                <a:spcPct val="0"/>
              </a:spcBef>
            </a:pPr>
            <a:r>
              <a:rPr lang="en-US" sz="4200" b="1">
                <a:solidFill>
                  <a:srgbClr val="000000"/>
                </a:solidFill>
                <a:latin typeface="Times New Roman Bold"/>
                <a:ea typeface="Times New Roman Bold"/>
                <a:cs typeface="Times New Roman Bold"/>
                <a:sym typeface="Times New Roman Bold"/>
              </a:rPr>
              <a:t>Báo Cáo Lỗi</a:t>
            </a:r>
          </a:p>
        </p:txBody>
      </p:sp>
      <p:grpSp>
        <p:nvGrpSpPr>
          <p:cNvPr id="5" name="Group 5"/>
          <p:cNvGrpSpPr/>
          <p:nvPr/>
        </p:nvGrpSpPr>
        <p:grpSpPr>
          <a:xfrm>
            <a:off x="1245646" y="2070020"/>
            <a:ext cx="6352070" cy="5610521"/>
            <a:chOff x="0" y="0"/>
            <a:chExt cx="1672973" cy="1477668"/>
          </a:xfrm>
        </p:grpSpPr>
        <p:sp>
          <p:nvSpPr>
            <p:cNvPr id="6" name="Freeform 6"/>
            <p:cNvSpPr/>
            <p:nvPr/>
          </p:nvSpPr>
          <p:spPr>
            <a:xfrm>
              <a:off x="0" y="0"/>
              <a:ext cx="1672973" cy="1477668"/>
            </a:xfrm>
            <a:custGeom>
              <a:avLst/>
              <a:gdLst/>
              <a:ahLst/>
              <a:cxnLst/>
              <a:rect l="l" t="t" r="r" b="b"/>
              <a:pathLst>
                <a:path w="1672973" h="1477668">
                  <a:moveTo>
                    <a:pt x="62159" y="0"/>
                  </a:moveTo>
                  <a:lnTo>
                    <a:pt x="1610814" y="0"/>
                  </a:lnTo>
                  <a:cubicBezTo>
                    <a:pt x="1645144" y="0"/>
                    <a:pt x="1672973" y="27830"/>
                    <a:pt x="1672973" y="62159"/>
                  </a:cubicBezTo>
                  <a:lnTo>
                    <a:pt x="1672973" y="1415509"/>
                  </a:lnTo>
                  <a:cubicBezTo>
                    <a:pt x="1672973" y="1449839"/>
                    <a:pt x="1645144" y="1477668"/>
                    <a:pt x="1610814" y="1477668"/>
                  </a:cubicBezTo>
                  <a:lnTo>
                    <a:pt x="62159" y="1477668"/>
                  </a:lnTo>
                  <a:cubicBezTo>
                    <a:pt x="27830" y="1477668"/>
                    <a:pt x="0" y="1449839"/>
                    <a:pt x="0" y="1415509"/>
                  </a:cubicBezTo>
                  <a:lnTo>
                    <a:pt x="0" y="62159"/>
                  </a:lnTo>
                  <a:cubicBezTo>
                    <a:pt x="0" y="27830"/>
                    <a:pt x="27830" y="0"/>
                    <a:pt x="62159" y="0"/>
                  </a:cubicBezTo>
                  <a:close/>
                </a:path>
              </a:pathLst>
            </a:custGeom>
            <a:solidFill>
              <a:srgbClr val="C1D8ED">
                <a:alpha val="36863"/>
              </a:srgbClr>
            </a:solidFill>
          </p:spPr>
        </p:sp>
        <p:sp>
          <p:nvSpPr>
            <p:cNvPr id="7" name="TextBox 7"/>
            <p:cNvSpPr txBox="1"/>
            <p:nvPr/>
          </p:nvSpPr>
          <p:spPr>
            <a:xfrm>
              <a:off x="0" y="-38100"/>
              <a:ext cx="1672973" cy="151576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397305" y="2070020"/>
            <a:ext cx="6352070" cy="5610521"/>
            <a:chOff x="0" y="0"/>
            <a:chExt cx="1672973" cy="1477668"/>
          </a:xfrm>
        </p:grpSpPr>
        <p:sp>
          <p:nvSpPr>
            <p:cNvPr id="9" name="Freeform 9"/>
            <p:cNvSpPr/>
            <p:nvPr/>
          </p:nvSpPr>
          <p:spPr>
            <a:xfrm>
              <a:off x="0" y="0"/>
              <a:ext cx="1672973" cy="1477668"/>
            </a:xfrm>
            <a:custGeom>
              <a:avLst/>
              <a:gdLst/>
              <a:ahLst/>
              <a:cxnLst/>
              <a:rect l="l" t="t" r="r" b="b"/>
              <a:pathLst>
                <a:path w="1672973" h="1477668">
                  <a:moveTo>
                    <a:pt x="62159" y="0"/>
                  </a:moveTo>
                  <a:lnTo>
                    <a:pt x="1610814" y="0"/>
                  </a:lnTo>
                  <a:cubicBezTo>
                    <a:pt x="1645144" y="0"/>
                    <a:pt x="1672973" y="27830"/>
                    <a:pt x="1672973" y="62159"/>
                  </a:cubicBezTo>
                  <a:lnTo>
                    <a:pt x="1672973" y="1415509"/>
                  </a:lnTo>
                  <a:cubicBezTo>
                    <a:pt x="1672973" y="1449839"/>
                    <a:pt x="1645144" y="1477668"/>
                    <a:pt x="1610814" y="1477668"/>
                  </a:cubicBezTo>
                  <a:lnTo>
                    <a:pt x="62159" y="1477668"/>
                  </a:lnTo>
                  <a:cubicBezTo>
                    <a:pt x="27830" y="1477668"/>
                    <a:pt x="0" y="1449839"/>
                    <a:pt x="0" y="1415509"/>
                  </a:cubicBezTo>
                  <a:lnTo>
                    <a:pt x="0" y="62159"/>
                  </a:lnTo>
                  <a:cubicBezTo>
                    <a:pt x="0" y="27830"/>
                    <a:pt x="27830" y="0"/>
                    <a:pt x="62159" y="0"/>
                  </a:cubicBezTo>
                  <a:close/>
                </a:path>
              </a:pathLst>
            </a:custGeom>
            <a:solidFill>
              <a:srgbClr val="C1D8ED">
                <a:alpha val="36863"/>
              </a:srgbClr>
            </a:solidFill>
          </p:spPr>
        </p:sp>
        <p:sp>
          <p:nvSpPr>
            <p:cNvPr id="10" name="TextBox 10"/>
            <p:cNvSpPr txBox="1"/>
            <p:nvPr/>
          </p:nvSpPr>
          <p:spPr>
            <a:xfrm>
              <a:off x="0" y="-38100"/>
              <a:ext cx="1672973" cy="151576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505976" y="2492388"/>
            <a:ext cx="5831408" cy="4293399"/>
          </a:xfrm>
          <a:prstGeom prst="rect">
            <a:avLst/>
          </a:prstGeom>
        </p:spPr>
        <p:txBody>
          <a:bodyPr lIns="0" tIns="0" rIns="0" bIns="0" rtlCol="0" anchor="t">
            <a:spAutoFit/>
          </a:bodyPr>
          <a:lstStyle/>
          <a:p>
            <a:pPr algn="l">
              <a:lnSpc>
                <a:spcPts val="3805"/>
              </a:lnSpc>
              <a:spcBef>
                <a:spcPct val="0"/>
              </a:spcBef>
            </a:pPr>
            <a:r>
              <a:rPr lang="en-US" sz="2718" b="1">
                <a:solidFill>
                  <a:srgbClr val="000000"/>
                </a:solidFill>
                <a:latin typeface="Times New Roman Bold"/>
                <a:ea typeface="Times New Roman Bold"/>
                <a:cs typeface="Times New Roman Bold"/>
                <a:sym typeface="Times New Roman Bold"/>
              </a:rPr>
              <a:t>Mô tả Hành vi Lỗi</a:t>
            </a:r>
          </a:p>
          <a:p>
            <a:pPr marL="586933" lvl="1" indent="-293466" algn="l">
              <a:lnSpc>
                <a:spcPts val="3805"/>
              </a:lnSpc>
              <a:buFont typeface="Arial"/>
              <a:buChar char="•"/>
            </a:pPr>
            <a:r>
              <a:rPr lang="en-US" sz="2718">
                <a:solidFill>
                  <a:srgbClr val="000000"/>
                </a:solidFill>
                <a:latin typeface="Times New Roman"/>
                <a:ea typeface="Times New Roman"/>
                <a:cs typeface="Times New Roman"/>
                <a:sym typeface="Times New Roman"/>
              </a:rPr>
              <a:t>Test Cases: TC-AUTH-03 và TC-AUTH-08.</a:t>
            </a:r>
          </a:p>
          <a:p>
            <a:pPr marL="586933" lvl="1" indent="-293466" algn="l">
              <a:lnSpc>
                <a:spcPts val="3805"/>
              </a:lnSpc>
              <a:buFont typeface="Arial"/>
              <a:buChar char="•"/>
            </a:pPr>
            <a:r>
              <a:rPr lang="en-US" sz="2718">
                <a:solidFill>
                  <a:srgbClr val="000000"/>
                </a:solidFill>
                <a:latin typeface="Times New Roman"/>
                <a:ea typeface="Times New Roman"/>
                <a:cs typeface="Times New Roman"/>
                <a:sym typeface="Times New Roman"/>
              </a:rPr>
              <a:t>Thao tác: Gửi Request Đăng ký/Đăng nhập nhưng cố tình xóa bỏ trường password.</a:t>
            </a:r>
          </a:p>
          <a:p>
            <a:pPr marL="586933" lvl="1" indent="-293466" algn="l">
              <a:lnSpc>
                <a:spcPts val="3805"/>
              </a:lnSpc>
              <a:buFont typeface="Arial"/>
              <a:buChar char="•"/>
            </a:pPr>
            <a:r>
              <a:rPr lang="en-US" sz="2718">
                <a:solidFill>
                  <a:srgbClr val="000000"/>
                </a:solidFill>
                <a:latin typeface="Times New Roman"/>
                <a:ea typeface="Times New Roman"/>
                <a:cs typeface="Times New Roman"/>
                <a:sym typeface="Times New Roman"/>
              </a:rPr>
              <a:t>Phản hồi: API Controller không chặn lại, biến undefined lọt qua kẽ hở đi thẳng xuống tầng Mongoose.</a:t>
            </a:r>
          </a:p>
        </p:txBody>
      </p:sp>
      <p:sp>
        <p:nvSpPr>
          <p:cNvPr id="12" name="TextBox 12"/>
          <p:cNvSpPr txBox="1"/>
          <p:nvPr/>
        </p:nvSpPr>
        <p:spPr>
          <a:xfrm>
            <a:off x="9728635" y="2501913"/>
            <a:ext cx="5550926" cy="3576660"/>
          </a:xfrm>
          <a:prstGeom prst="rect">
            <a:avLst/>
          </a:prstGeom>
        </p:spPr>
        <p:txBody>
          <a:bodyPr lIns="0" tIns="0" rIns="0" bIns="0" rtlCol="0" anchor="t">
            <a:spAutoFit/>
          </a:bodyPr>
          <a:lstStyle/>
          <a:p>
            <a:pPr algn="l">
              <a:lnSpc>
                <a:spcPts val="3411"/>
              </a:lnSpc>
              <a:spcBef>
                <a:spcPct val="0"/>
              </a:spcBef>
            </a:pPr>
            <a:r>
              <a:rPr lang="en-US" sz="2436" b="1">
                <a:solidFill>
                  <a:srgbClr val="000000"/>
                </a:solidFill>
                <a:latin typeface="Times New Roman Bold"/>
                <a:ea typeface="Times New Roman Bold"/>
                <a:cs typeface="Times New Roman Bold"/>
                <a:sym typeface="Times New Roman Bold"/>
              </a:rPr>
              <a:t>Hậu quả (Impact)</a:t>
            </a:r>
          </a:p>
          <a:p>
            <a:pPr marL="526062" lvl="1" indent="-263031" algn="l">
              <a:lnSpc>
                <a:spcPts val="3411"/>
              </a:lnSpc>
              <a:buFont typeface="Arial"/>
              <a:buChar char="•"/>
            </a:pPr>
            <a:r>
              <a:rPr lang="en-US" sz="2436">
                <a:solidFill>
                  <a:srgbClr val="000000"/>
                </a:solidFill>
                <a:latin typeface="Times New Roman"/>
                <a:ea typeface="Times New Roman"/>
                <a:cs typeface="Times New Roman"/>
                <a:sym typeface="Times New Roman"/>
              </a:rPr>
              <a:t>Crash Hệ thống: Cơ sở dữ liệu báo lỗi Model Validation nghiêm trọng.</a:t>
            </a:r>
          </a:p>
          <a:p>
            <a:pPr marL="582930" lvl="1" indent="-291465" algn="l">
              <a:lnSpc>
                <a:spcPts val="3779"/>
              </a:lnSpc>
              <a:buFont typeface="Arial"/>
              <a:buChar char="•"/>
            </a:pPr>
            <a:r>
              <a:rPr lang="en-US" sz="2700">
                <a:solidFill>
                  <a:srgbClr val="000000"/>
                </a:solidFill>
                <a:latin typeface="Times New Roman"/>
                <a:ea typeface="Times New Roman"/>
                <a:cs typeface="Times New Roman"/>
                <a:sym typeface="Times New Roman"/>
              </a:rPr>
              <a:t>Gián đoạn Dịch vụ: Tiến trình Node.js vỡ luồng, trả về HTTP 500 Server Error.</a:t>
            </a:r>
          </a:p>
          <a:p>
            <a:pPr marL="526062" lvl="1" indent="-263031" algn="l">
              <a:lnSpc>
                <a:spcPts val="3411"/>
              </a:lnSpc>
              <a:buFont typeface="Arial"/>
              <a:buChar char="•"/>
            </a:pPr>
            <a:r>
              <a:rPr lang="en-US" sz="2436">
                <a:solidFill>
                  <a:srgbClr val="000000"/>
                </a:solidFill>
                <a:latin typeface="Times New Roman"/>
                <a:ea typeface="Times New Roman"/>
                <a:cs typeface="Times New Roman"/>
                <a:sym typeface="Times New Roman"/>
              </a:rPr>
              <a:t>Đánh giá: FAIL (Critical Bug - Cần khắc phục khẩn cấp).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802</Words>
  <Application>Microsoft Office PowerPoint</Application>
  <PresentationFormat>Custom</PresentationFormat>
  <Paragraphs>87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Times New Roman Bold</vt:lpstr>
      <vt:lpstr>Times  New Roman</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Giữa Kỳ</dc:title>
  <cp:lastModifiedBy>Trọng Xuân</cp:lastModifiedBy>
  <cp:revision>3</cp:revision>
  <dcterms:created xsi:type="dcterms:W3CDTF">2006-08-16T00:00:00Z</dcterms:created>
  <dcterms:modified xsi:type="dcterms:W3CDTF">2026-03-24T07:37:47Z</dcterms:modified>
  <dc:identifier>DAHE1jTQHWY</dc:identifier>
</cp:coreProperties>
</file>